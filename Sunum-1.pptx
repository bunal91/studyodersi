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2" r:id="rId4"/>
    <p:sldId id="287" r:id="rId5"/>
    <p:sldId id="264" r:id="rId6"/>
    <p:sldId id="265" r:id="rId7"/>
    <p:sldId id="276" r:id="rId8"/>
    <p:sldId id="273" r:id="rId9"/>
    <p:sldId id="288" r:id="rId10"/>
    <p:sldId id="286" r:id="rId11"/>
    <p:sldId id="266" r:id="rId12"/>
    <p:sldId id="279" r:id="rId13"/>
    <p:sldId id="274" r:id="rId14"/>
    <p:sldId id="280" r:id="rId15"/>
    <p:sldId id="28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EF"/>
    <a:srgbClr val="A85C42"/>
    <a:srgbClr val="EEE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4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Syllabus anlatımından hemen sonra bu slaytla sunuma geçin: izlence ne istiyor, sunum onu nasıl yapılır hâle getiriyor.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Öz bağımsız yazılamaz: yukarıdaki dokuz başlığın sonucu.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A583C-ABBF-C21F-F894-C14B9A19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7AEDA-CE41-6923-70C4-C2FCD021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88BD3-0F55-C346-B9C8-AC6D14709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Öz bağımsız yazılamaz: yukarıdaki dokuz başlığın sonucu.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B3815-728D-7232-6E6F-AE71D74EE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Dördüncü kart vurgulu: davranış, tasarıma en doğrudan çevrilen bilgi.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Ham havuzun uzun olması iyidir; eleme sert olmalı. Otuz kelimeden üçe inmek normaldir.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Aşama adlarını öğrenciye yazdırın; dönem boyunca bu terimlerle konuşacağız.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Dokunma vurgulu: fiziksel mağazanın çevrim içine karşı en güçlü kozu.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8462-DDDF-DF93-9F33-A19AD5CD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1AC22-CA67-24FB-FAA9-AF96F654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296F3-4355-ABB3-45AF-DA0F340F8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Son iki kelime bu dersin eklediği örnekler; el üretimi ve atölyeli markalarda çok işe yarıyor.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9956F-7BDD-1DA5-A607-2760B2863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07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BEF5-EDE8-7B6C-6276-F8930002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118C0-ECD6-2878-735F-76140A7AF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E06EA-F8ED-9C60-1C26-622EC391D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Son iki kelime bu dersin eklediği örnekler; el üretimi ve atölyeli markalarda çok işe yarıyor.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0F028-8222-56E9-88D0-E7B1F6DA4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30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Son iki kelime bu dersin eklediği örnekler; el üretimi ve atölyeli markalarda çok işe yarıyor.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Sağ kolon kelime–karar ilişkisinin yolculuk üzerinde okunuşu.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 matris duyusal tasarımı mood board olmaktan çıkarıp yolculuğa bağlıyor.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Öğrenci seçim yaparken bu tabloyu kullansın: hangi gruptaysa mekânsal programı oradan başlıyor.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" name="Text 2"/>
          <p:cNvSpPr txBox="1"/>
          <p:nvPr/>
        </p:nvSpPr>
        <p:spPr>
          <a:xfrm>
            <a:off x="776843" y="2778318"/>
            <a:ext cx="7770809" cy="1462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tr-TR" sz="4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Anahtarını Okumak</a:t>
            </a:r>
            <a:endParaRPr lang="tr-TR" sz="4000" noProof="1"/>
          </a:p>
          <a:p>
            <a:pPr marL="0" indent="0" algn="l">
              <a:lnSpc>
                <a:spcPts val="5000"/>
              </a:lnSpc>
              <a:buNone/>
            </a:pPr>
            <a:r>
              <a:rPr lang="tr-TR" sz="4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Müşteri Deneyimini Haritalamak</a:t>
            </a:r>
            <a:endParaRPr lang="tr-TR" sz="4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72962" y="657126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78"/>
              </a:lnSpc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Markadan mekâna</a:t>
            </a:r>
            <a:endParaRPr lang="tr-TR" sz="2700" noProof="1"/>
          </a:p>
        </p:txBody>
      </p:sp>
      <p:sp>
        <p:nvSpPr>
          <p:cNvPr id="10" name="Text 8"/>
          <p:cNvSpPr txBox="1"/>
          <p:nvPr/>
        </p:nvSpPr>
        <p:spPr>
          <a:xfrm>
            <a:off x="896112" y="2104072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</a:t>
            </a:r>
            <a:endParaRPr lang="tr-TR" sz="1600" noProof="1"/>
          </a:p>
        </p:txBody>
      </p:sp>
      <p:sp>
        <p:nvSpPr>
          <p:cNvPr id="11" name="Text 9"/>
          <p:cNvSpPr txBox="1"/>
          <p:nvPr/>
        </p:nvSpPr>
        <p:spPr>
          <a:xfrm>
            <a:off x="896112" y="2336397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araştırmak ve kimliğini çözümlemek.</a:t>
            </a:r>
            <a:endParaRPr lang="tr-TR" sz="1400" noProof="1"/>
          </a:p>
        </p:txBody>
      </p:sp>
      <p:sp>
        <p:nvSpPr>
          <p:cNvPr id="15" name="Text 13"/>
          <p:cNvSpPr txBox="1"/>
          <p:nvPr/>
        </p:nvSpPr>
        <p:spPr>
          <a:xfrm>
            <a:off x="3637026" y="2097421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tr-TR" sz="1600" noProof="1"/>
          </a:p>
        </p:txBody>
      </p:sp>
      <p:sp>
        <p:nvSpPr>
          <p:cNvPr id="16" name="Text 14"/>
          <p:cNvSpPr txBox="1"/>
          <p:nvPr/>
        </p:nvSpPr>
        <p:spPr>
          <a:xfrm>
            <a:off x="3637026" y="2328505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ihtiyaç, değer ve davranışlarını anlamak.</a:t>
            </a:r>
            <a:endParaRPr lang="tr-TR" sz="1400" noProof="1"/>
          </a:p>
        </p:txBody>
      </p:sp>
      <p:sp>
        <p:nvSpPr>
          <p:cNvPr id="20" name="Text 18"/>
          <p:cNvSpPr txBox="1"/>
          <p:nvPr/>
        </p:nvSpPr>
        <p:spPr>
          <a:xfrm>
            <a:off x="6377940" y="2097421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I Etkileşim</a:t>
            </a:r>
            <a:endParaRPr lang="tr-TR" sz="1600" noProof="1"/>
          </a:p>
        </p:txBody>
      </p:sp>
      <p:sp>
        <p:nvSpPr>
          <p:cNvPr id="21" name="Text 19"/>
          <p:cNvSpPr txBox="1"/>
          <p:nvPr/>
        </p:nvSpPr>
        <p:spPr>
          <a:xfrm>
            <a:off x="6377940" y="2331285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Duyular, teknoloji ve müşteri yolculuğunu tasarlamak.</a:t>
            </a:r>
            <a:endParaRPr lang="tr-TR" sz="1400" noProof="1"/>
          </a:p>
        </p:txBody>
      </p:sp>
      <p:sp>
        <p:nvSpPr>
          <p:cNvPr id="22" name="Shape 20"/>
          <p:cNvSpPr/>
          <p:nvPr/>
        </p:nvSpPr>
        <p:spPr>
          <a:xfrm>
            <a:off x="8935974" y="1936044"/>
            <a:ext cx="2539746" cy="1050948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5" name="Text 23"/>
          <p:cNvSpPr txBox="1"/>
          <p:nvPr/>
        </p:nvSpPr>
        <p:spPr>
          <a:xfrm>
            <a:off x="9145358" y="2097421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</a:t>
            </a:r>
            <a:endParaRPr lang="tr-TR" sz="1600" noProof="1"/>
          </a:p>
        </p:txBody>
      </p:sp>
      <p:sp>
        <p:nvSpPr>
          <p:cNvPr id="26" name="Text 24"/>
          <p:cNvSpPr txBox="1"/>
          <p:nvPr/>
        </p:nvSpPr>
        <p:spPr>
          <a:xfrm>
            <a:off x="9158610" y="2331285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Kimliği atmosfer, malzeme, ışık ve mekânsal kurguya çevirmek.</a:t>
            </a:r>
            <a:endParaRPr lang="tr-TR" sz="1400" noProof="1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5F28DFDE-B840-99F2-D7FA-6EE9CD830F88}"/>
              </a:ext>
            </a:extLst>
          </p:cNvPr>
          <p:cNvSpPr txBox="1"/>
          <p:nvPr/>
        </p:nvSpPr>
        <p:spPr>
          <a:xfrm>
            <a:off x="9129131" y="4576864"/>
            <a:ext cx="1347076" cy="1865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ve sergileme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 eşik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dolaşım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alanı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ve tanıtım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ve kasa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ve stok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</a:t>
            </a:r>
            <a:endParaRPr lang="tr-TR" sz="1400" noProof="1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BF48092A-E8E0-42FD-DAA0-A83860734D14}"/>
              </a:ext>
            </a:extLst>
          </p:cNvPr>
          <p:cNvCxnSpPr>
            <a:cxnSpLocks/>
          </p:cNvCxnSpPr>
          <p:nvPr/>
        </p:nvCxnSpPr>
        <p:spPr>
          <a:xfrm>
            <a:off x="0" y="1936044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18">
            <a:extLst>
              <a:ext uri="{FF2B5EF4-FFF2-40B4-BE49-F238E27FC236}">
                <a16:creationId xmlns:a16="http://schemas.microsoft.com/office/drawing/2014/main" id="{F83B28B3-32E5-E94A-E718-C693B83C6669}"/>
              </a:ext>
            </a:extLst>
          </p:cNvPr>
          <p:cNvSpPr txBox="1"/>
          <p:nvPr/>
        </p:nvSpPr>
        <p:spPr>
          <a:xfrm>
            <a:off x="9116939" y="431974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A8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İşlevler</a:t>
            </a:r>
            <a:endParaRPr lang="tr-TR" sz="1600" noProof="1">
              <a:solidFill>
                <a:srgbClr val="A85C42"/>
              </a:solidFill>
            </a:endParaRPr>
          </a:p>
        </p:txBody>
      </p:sp>
      <p:cxnSp>
        <p:nvCxnSpPr>
          <p:cNvPr id="32" name="Düz Bağlayıcı 31">
            <a:extLst>
              <a:ext uri="{FF2B5EF4-FFF2-40B4-BE49-F238E27FC236}">
                <a16:creationId xmlns:a16="http://schemas.microsoft.com/office/drawing/2014/main" id="{EA254467-7429-C50E-0321-42CADF0E16F9}"/>
              </a:ext>
            </a:extLst>
          </p:cNvPr>
          <p:cNvCxnSpPr>
            <a:cxnSpLocks/>
          </p:cNvCxnSpPr>
          <p:nvPr/>
        </p:nvCxnSpPr>
        <p:spPr>
          <a:xfrm>
            <a:off x="9051403" y="2007860"/>
            <a:ext cx="0" cy="246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2760E40-D119-5B97-2FDE-973A06F26928}"/>
              </a:ext>
            </a:extLst>
          </p:cNvPr>
          <p:cNvSpPr/>
          <p:nvPr/>
        </p:nvSpPr>
        <p:spPr>
          <a:xfrm>
            <a:off x="872962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D48021-BC88-A849-4C3E-542EEB02CBCE}"/>
              </a:ext>
            </a:extLst>
          </p:cNvPr>
          <p:cNvSpPr/>
          <p:nvPr/>
        </p:nvSpPr>
        <p:spPr>
          <a:xfrm>
            <a:off x="3627736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5114B0-1319-153D-AE78-2C2F1A0C3E1C}"/>
              </a:ext>
            </a:extLst>
          </p:cNvPr>
          <p:cNvSpPr/>
          <p:nvPr/>
        </p:nvSpPr>
        <p:spPr>
          <a:xfrm>
            <a:off x="6347786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69E20C9-56D8-B67F-6A45-A200F6468E3B}"/>
              </a:ext>
            </a:extLst>
          </p:cNvPr>
          <p:cNvSpPr/>
          <p:nvPr/>
        </p:nvSpPr>
        <p:spPr>
          <a:xfrm>
            <a:off x="8974608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7B2FAA8-3C78-17EA-73F3-9EE6DB66E826}"/>
              </a:ext>
            </a:extLst>
          </p:cNvPr>
          <p:cNvSpPr txBox="1"/>
          <p:nvPr/>
        </p:nvSpPr>
        <p:spPr>
          <a:xfrm>
            <a:off x="5012307" y="3587148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KELİMELER</a:t>
            </a:r>
            <a:endParaRPr lang="tr-TR" sz="1700" noProof="1"/>
          </a:p>
        </p:txBody>
      </p:sp>
      <p:cxnSp>
        <p:nvCxnSpPr>
          <p:cNvPr id="40" name="Düz Bağlayıcı 39">
            <a:extLst>
              <a:ext uri="{FF2B5EF4-FFF2-40B4-BE49-F238E27FC236}">
                <a16:creationId xmlns:a16="http://schemas.microsoft.com/office/drawing/2014/main" id="{E2091ABA-28B1-3448-9C8F-57DDEC58FA73}"/>
              </a:ext>
            </a:extLst>
          </p:cNvPr>
          <p:cNvCxnSpPr>
            <a:cxnSpLocks/>
          </p:cNvCxnSpPr>
          <p:nvPr/>
        </p:nvCxnSpPr>
        <p:spPr>
          <a:xfrm>
            <a:off x="5936728" y="1936423"/>
            <a:ext cx="0" cy="2614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Düz Bağlayıcı 41">
            <a:extLst>
              <a:ext uri="{FF2B5EF4-FFF2-40B4-BE49-F238E27FC236}">
                <a16:creationId xmlns:a16="http://schemas.microsoft.com/office/drawing/2014/main" id="{C8F8A0E4-1836-035E-EB5C-0449FDDCEB15}"/>
              </a:ext>
            </a:extLst>
          </p:cNvPr>
          <p:cNvCxnSpPr>
            <a:cxnSpLocks/>
          </p:cNvCxnSpPr>
          <p:nvPr/>
        </p:nvCxnSpPr>
        <p:spPr>
          <a:xfrm>
            <a:off x="5936728" y="2289991"/>
            <a:ext cx="0" cy="2614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Düz Bağlayıcı 46">
            <a:extLst>
              <a:ext uri="{FF2B5EF4-FFF2-40B4-BE49-F238E27FC236}">
                <a16:creationId xmlns:a16="http://schemas.microsoft.com/office/drawing/2014/main" id="{6C96189A-8002-577D-54D1-B90671D5EAF5}"/>
              </a:ext>
            </a:extLst>
          </p:cNvPr>
          <p:cNvCxnSpPr>
            <a:cxnSpLocks/>
          </p:cNvCxnSpPr>
          <p:nvPr/>
        </p:nvCxnSpPr>
        <p:spPr>
          <a:xfrm>
            <a:off x="5936728" y="2661847"/>
            <a:ext cx="0" cy="2614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Düz Bağlayıcı 47">
            <a:extLst>
              <a:ext uri="{FF2B5EF4-FFF2-40B4-BE49-F238E27FC236}">
                <a16:creationId xmlns:a16="http://schemas.microsoft.com/office/drawing/2014/main" id="{831BEACF-6002-306A-8013-BB7A129AA7C3}"/>
              </a:ext>
            </a:extLst>
          </p:cNvPr>
          <p:cNvCxnSpPr>
            <a:cxnSpLocks/>
          </p:cNvCxnSpPr>
          <p:nvPr/>
        </p:nvCxnSpPr>
        <p:spPr>
          <a:xfrm>
            <a:off x="5936728" y="3027607"/>
            <a:ext cx="0" cy="2614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 18">
            <a:extLst>
              <a:ext uri="{FF2B5EF4-FFF2-40B4-BE49-F238E27FC236}">
                <a16:creationId xmlns:a16="http://schemas.microsoft.com/office/drawing/2014/main" id="{1835A179-0E4A-3164-ACEC-383F37647033}"/>
              </a:ext>
            </a:extLst>
          </p:cNvPr>
          <p:cNvSpPr txBox="1"/>
          <p:nvPr/>
        </p:nvSpPr>
        <p:spPr>
          <a:xfrm>
            <a:off x="5019295" y="3351709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spc="300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kavramsallaştırma</a:t>
            </a:r>
            <a:endParaRPr lang="tr-TR" sz="1400" spc="300" noProof="1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4ED2ED6A-CDAA-8D35-40B5-7679F4FFF6BA}"/>
              </a:ext>
            </a:extLst>
          </p:cNvPr>
          <p:cNvSpPr txBox="1"/>
          <p:nvPr/>
        </p:nvSpPr>
        <p:spPr>
          <a:xfrm>
            <a:off x="723537" y="1754780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tr-TR" sz="1900" noProof="1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66BDEC4A-5FE5-2486-14E1-C0BAB2BF4E81}"/>
              </a:ext>
            </a:extLst>
          </p:cNvPr>
          <p:cNvSpPr txBox="1"/>
          <p:nvPr/>
        </p:nvSpPr>
        <p:spPr>
          <a:xfrm>
            <a:off x="3464923" y="1754780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tr-TR" sz="1900" noProof="1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51496087-8635-72F5-8019-BFE88134A3D6}"/>
              </a:ext>
            </a:extLst>
          </p:cNvPr>
          <p:cNvSpPr txBox="1"/>
          <p:nvPr/>
        </p:nvSpPr>
        <p:spPr>
          <a:xfrm>
            <a:off x="6209936" y="1754780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tr-TR" sz="1900" noProof="1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D82835C6-1D0B-0CE5-2B6A-AD1A5D6B337F}"/>
              </a:ext>
            </a:extLst>
          </p:cNvPr>
          <p:cNvSpPr txBox="1"/>
          <p:nvPr/>
        </p:nvSpPr>
        <p:spPr>
          <a:xfrm>
            <a:off x="8837023" y="1754780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 txBox="1"/>
          <p:nvPr/>
        </p:nvSpPr>
        <p:spPr>
          <a:xfrm>
            <a:off x="766946" y="2200128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</a:t>
            </a:r>
            <a:endParaRPr lang="tr-TR" sz="1600" noProof="1"/>
          </a:p>
        </p:txBody>
      </p:sp>
      <p:sp>
        <p:nvSpPr>
          <p:cNvPr id="14" name="Text 12"/>
          <p:cNvSpPr txBox="1"/>
          <p:nvPr/>
        </p:nvSpPr>
        <p:spPr>
          <a:xfrm>
            <a:off x="2091592" y="2221429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3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sesleniyor?</a:t>
            </a:r>
            <a:endParaRPr lang="tr-TR" sz="1400" noProof="1"/>
          </a:p>
        </p:txBody>
      </p:sp>
      <p:sp>
        <p:nvSpPr>
          <p:cNvPr id="16" name="Text 14"/>
          <p:cNvSpPr txBox="1"/>
          <p:nvPr/>
        </p:nvSpPr>
        <p:spPr>
          <a:xfrm>
            <a:off x="766946" y="2516126"/>
            <a:ext cx="1324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Amaçlar</a:t>
            </a:r>
            <a:endParaRPr lang="tr-TR" sz="1600" noProof="1"/>
          </a:p>
        </p:txBody>
      </p:sp>
      <p:sp>
        <p:nvSpPr>
          <p:cNvPr id="17" name="Text 15"/>
          <p:cNvSpPr txBox="1"/>
          <p:nvPr/>
        </p:nvSpPr>
        <p:spPr>
          <a:xfrm>
            <a:off x="1568362" y="2529842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3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başarmak istiyor?</a:t>
            </a:r>
            <a:endParaRPr lang="tr-TR" sz="1400" noProof="1"/>
          </a:p>
        </p:txBody>
      </p:sp>
      <p:sp>
        <p:nvSpPr>
          <p:cNvPr id="21" name="Text 19"/>
          <p:cNvSpPr txBox="1"/>
          <p:nvPr/>
        </p:nvSpPr>
        <p:spPr>
          <a:xfrm>
            <a:off x="766946" y="2843447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</a:t>
            </a:r>
            <a:endParaRPr lang="tr-TR" sz="1600" noProof="1"/>
          </a:p>
        </p:txBody>
      </p:sp>
      <p:sp>
        <p:nvSpPr>
          <p:cNvPr id="22" name="Text 20"/>
          <p:cNvSpPr txBox="1"/>
          <p:nvPr/>
        </p:nvSpPr>
        <p:spPr>
          <a:xfrm>
            <a:off x="1483988" y="2848951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olma nedeni</a:t>
            </a:r>
            <a:endParaRPr lang="tr-TR" sz="1400" noProof="1"/>
          </a:p>
        </p:txBody>
      </p:sp>
      <p:sp>
        <p:nvSpPr>
          <p:cNvPr id="24" name="Text 22"/>
          <p:cNvSpPr txBox="1"/>
          <p:nvPr/>
        </p:nvSpPr>
        <p:spPr>
          <a:xfrm>
            <a:off x="766946" y="3155450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tr-TR" sz="1600" noProof="1"/>
          </a:p>
        </p:txBody>
      </p:sp>
      <p:sp>
        <p:nvSpPr>
          <p:cNvPr id="25" name="Text 23"/>
          <p:cNvSpPr txBox="1"/>
          <p:nvPr/>
        </p:nvSpPr>
        <p:spPr>
          <a:xfrm>
            <a:off x="1571344" y="3166433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inanıyor?</a:t>
            </a:r>
            <a:endParaRPr lang="tr-TR" sz="1400" noProof="1"/>
          </a:p>
        </p:txBody>
      </p:sp>
      <p:sp>
        <p:nvSpPr>
          <p:cNvPr id="27" name="Text 25"/>
          <p:cNvSpPr txBox="1"/>
          <p:nvPr/>
        </p:nvSpPr>
        <p:spPr>
          <a:xfrm>
            <a:off x="766946" y="3466303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</a:t>
            </a:r>
            <a:endParaRPr lang="tr-TR" sz="1600" noProof="1"/>
          </a:p>
        </p:txBody>
      </p:sp>
      <p:sp>
        <p:nvSpPr>
          <p:cNvPr id="28" name="Text 26"/>
          <p:cNvSpPr txBox="1"/>
          <p:nvPr/>
        </p:nvSpPr>
        <p:spPr>
          <a:xfrm>
            <a:off x="1589632" y="3471301"/>
            <a:ext cx="306188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İşlevsel ve duygusal olarak ne sunuyor?</a:t>
            </a:r>
            <a:endParaRPr lang="tr-TR" sz="1400" noProof="1"/>
          </a:p>
        </p:txBody>
      </p:sp>
      <p:sp>
        <p:nvSpPr>
          <p:cNvPr id="30" name="Text 28"/>
          <p:cNvSpPr txBox="1"/>
          <p:nvPr/>
        </p:nvSpPr>
        <p:spPr>
          <a:xfrm>
            <a:off x="766946" y="3785053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tr-TR" sz="1600" noProof="1"/>
          </a:p>
        </p:txBody>
      </p:sp>
      <p:sp>
        <p:nvSpPr>
          <p:cNvPr id="31" name="Text 29"/>
          <p:cNvSpPr txBox="1"/>
          <p:nvPr/>
        </p:nvSpPr>
        <p:spPr>
          <a:xfrm>
            <a:off x="1343308" y="3802690"/>
            <a:ext cx="330820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insan olsaydı nasıl biri olurdu?</a:t>
            </a:r>
            <a:endParaRPr lang="tr-TR" sz="1400" noProof="1"/>
          </a:p>
        </p:txBody>
      </p:sp>
      <p:sp>
        <p:nvSpPr>
          <p:cNvPr id="33" name="Text 31"/>
          <p:cNvSpPr txBox="1"/>
          <p:nvPr/>
        </p:nvSpPr>
        <p:spPr>
          <a:xfrm>
            <a:off x="766946" y="4089405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</a:t>
            </a:r>
            <a:endParaRPr lang="tr-TR" sz="1600" noProof="1"/>
          </a:p>
        </p:txBody>
      </p:sp>
      <p:sp>
        <p:nvSpPr>
          <p:cNvPr id="34" name="Text 32"/>
          <p:cNvSpPr txBox="1"/>
          <p:nvPr/>
        </p:nvSpPr>
        <p:spPr>
          <a:xfrm>
            <a:off x="1703444" y="4094882"/>
            <a:ext cx="36586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· biçim · malzeme · görüntü</a:t>
            </a:r>
            <a:endParaRPr lang="tr-TR" sz="1400" noProof="1"/>
          </a:p>
        </p:txBody>
      </p:sp>
      <p:sp>
        <p:nvSpPr>
          <p:cNvPr id="36" name="Text 34"/>
          <p:cNvSpPr txBox="1"/>
          <p:nvPr/>
        </p:nvSpPr>
        <p:spPr>
          <a:xfrm>
            <a:off x="766946" y="4408155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tonu</a:t>
            </a:r>
            <a:endParaRPr lang="tr-TR" sz="1600" noProof="1"/>
          </a:p>
        </p:txBody>
      </p:sp>
      <p:sp>
        <p:nvSpPr>
          <p:cNvPr id="37" name="Text 35"/>
          <p:cNvSpPr txBox="1"/>
          <p:nvPr/>
        </p:nvSpPr>
        <p:spPr>
          <a:xfrm>
            <a:off x="1930574" y="4426288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konuşuyor?</a:t>
            </a:r>
            <a:endParaRPr lang="tr-TR" sz="1400" noProof="1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7FFF2F52-D092-5BFD-6233-C00AA220D08F}"/>
              </a:ext>
            </a:extLst>
          </p:cNvPr>
          <p:cNvSpPr txBox="1"/>
          <p:nvPr/>
        </p:nvSpPr>
        <p:spPr>
          <a:xfrm>
            <a:off x="713232" y="667513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</a:t>
            </a:r>
            <a:endParaRPr lang="tr-TR" sz="2700" noProof="1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434C4311-A553-316B-EFBD-13CF8A50F573}"/>
              </a:ext>
            </a:extLst>
          </p:cNvPr>
          <p:cNvSpPr txBox="1"/>
          <p:nvPr/>
        </p:nvSpPr>
        <p:spPr>
          <a:xfrm>
            <a:off x="713232" y="1108422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mekânsal bir dile çevirmek.</a:t>
            </a:r>
            <a:endParaRPr lang="tr-TR" sz="1400" noProof="1"/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CE813795-CCE1-44E7-F995-3F56DE35C4E9}"/>
              </a:ext>
            </a:extLst>
          </p:cNvPr>
          <p:cNvCxnSpPr>
            <a:cxnSpLocks/>
          </p:cNvCxnSpPr>
          <p:nvPr/>
        </p:nvCxnSpPr>
        <p:spPr>
          <a:xfrm>
            <a:off x="0" y="1978145"/>
            <a:ext cx="332808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4CD95B5-152F-2D18-C4E6-AEE5A82A73C2}"/>
              </a:ext>
            </a:extLst>
          </p:cNvPr>
          <p:cNvSpPr/>
          <p:nvPr/>
        </p:nvSpPr>
        <p:spPr>
          <a:xfrm>
            <a:off x="739406" y="1894050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54089AF0-E2E9-CBA7-4B2D-BF8859777EA8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tr-TR" sz="1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63199-79D9-759F-7510-DA08B5F1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>
            <a:extLst>
              <a:ext uri="{FF2B5EF4-FFF2-40B4-BE49-F238E27FC236}">
                <a16:creationId xmlns:a16="http://schemas.microsoft.com/office/drawing/2014/main" id="{C529D1B8-6AB4-7C8F-6F48-4603AFF2C35B}"/>
              </a:ext>
            </a:extLst>
          </p:cNvPr>
          <p:cNvSpPr txBox="1"/>
          <p:nvPr/>
        </p:nvSpPr>
        <p:spPr>
          <a:xfrm>
            <a:off x="766946" y="2200128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</a:t>
            </a:r>
            <a:endParaRPr lang="tr-TR" sz="1600" noProof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7178E7F-7714-A171-3F3C-32921726B584}"/>
              </a:ext>
            </a:extLst>
          </p:cNvPr>
          <p:cNvSpPr txBox="1"/>
          <p:nvPr/>
        </p:nvSpPr>
        <p:spPr>
          <a:xfrm>
            <a:off x="2091592" y="2221429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3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sesleniyor?</a:t>
            </a:r>
            <a:endParaRPr lang="tr-TR" sz="1400" noProof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75D96D7-A21A-521A-9581-09C86E4B39F4}"/>
              </a:ext>
            </a:extLst>
          </p:cNvPr>
          <p:cNvSpPr txBox="1"/>
          <p:nvPr/>
        </p:nvSpPr>
        <p:spPr>
          <a:xfrm>
            <a:off x="766946" y="2516126"/>
            <a:ext cx="13246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Amaçlar</a:t>
            </a:r>
            <a:endParaRPr lang="tr-TR" sz="1600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7ED632-45E2-249F-54C9-379BBF910883}"/>
              </a:ext>
            </a:extLst>
          </p:cNvPr>
          <p:cNvSpPr txBox="1"/>
          <p:nvPr/>
        </p:nvSpPr>
        <p:spPr>
          <a:xfrm>
            <a:off x="1568362" y="2529842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3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başarmak istiyor?</a:t>
            </a:r>
            <a:endParaRPr lang="tr-TR" sz="1400" noProof="1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5A94AC6-EB19-1DD7-3CB8-3DBE3D50DDBF}"/>
              </a:ext>
            </a:extLst>
          </p:cNvPr>
          <p:cNvSpPr txBox="1"/>
          <p:nvPr/>
        </p:nvSpPr>
        <p:spPr>
          <a:xfrm>
            <a:off x="766946" y="2843447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</a:t>
            </a:r>
            <a:endParaRPr lang="tr-TR" sz="1600" noProof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BDC0A09-5F24-E4F5-D069-15BE3BB0E64B}"/>
              </a:ext>
            </a:extLst>
          </p:cNvPr>
          <p:cNvSpPr txBox="1"/>
          <p:nvPr/>
        </p:nvSpPr>
        <p:spPr>
          <a:xfrm>
            <a:off x="1483988" y="2848951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olma nedeni</a:t>
            </a:r>
            <a:endParaRPr lang="tr-TR" sz="1400" noProof="1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63FBB4-706C-DFF5-7F4D-4CC031F09B9E}"/>
              </a:ext>
            </a:extLst>
          </p:cNvPr>
          <p:cNvSpPr txBox="1"/>
          <p:nvPr/>
        </p:nvSpPr>
        <p:spPr>
          <a:xfrm>
            <a:off x="766946" y="3155450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tr-TR" sz="1600" noProof="1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20E9BC3-FFEC-1E86-65C0-17435BD1725B}"/>
              </a:ext>
            </a:extLst>
          </p:cNvPr>
          <p:cNvSpPr txBox="1"/>
          <p:nvPr/>
        </p:nvSpPr>
        <p:spPr>
          <a:xfrm>
            <a:off x="1571344" y="3152145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inanıyor?</a:t>
            </a:r>
            <a:endParaRPr lang="tr-TR" sz="1400" noProof="1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A48926A-59B8-50A2-6E10-75D433C316CB}"/>
              </a:ext>
            </a:extLst>
          </p:cNvPr>
          <p:cNvSpPr txBox="1"/>
          <p:nvPr/>
        </p:nvSpPr>
        <p:spPr>
          <a:xfrm>
            <a:off x="766946" y="3466303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</a:t>
            </a:r>
            <a:endParaRPr lang="tr-TR" sz="1600" noProof="1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E7D6318-18AB-FC43-DD4E-D3C8687E5EDE}"/>
              </a:ext>
            </a:extLst>
          </p:cNvPr>
          <p:cNvSpPr txBox="1"/>
          <p:nvPr/>
        </p:nvSpPr>
        <p:spPr>
          <a:xfrm>
            <a:off x="1589632" y="3485589"/>
            <a:ext cx="306188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İşlevsel ve duygusal olarak ne sunuyor?</a:t>
            </a:r>
            <a:endParaRPr lang="tr-TR" sz="1400" noProof="1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42ECD7D-A5F3-34B7-AE79-E665B0D40A71}"/>
              </a:ext>
            </a:extLst>
          </p:cNvPr>
          <p:cNvSpPr txBox="1"/>
          <p:nvPr/>
        </p:nvSpPr>
        <p:spPr>
          <a:xfrm>
            <a:off x="766946" y="3785053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tr-TR" sz="1600" noProof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FE9F47F-5B2B-60B3-CFC8-7DBF83E975A8}"/>
              </a:ext>
            </a:extLst>
          </p:cNvPr>
          <p:cNvSpPr txBox="1"/>
          <p:nvPr/>
        </p:nvSpPr>
        <p:spPr>
          <a:xfrm>
            <a:off x="1343308" y="3788402"/>
            <a:ext cx="330820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insan olsaydı nasıl biri olurdu?</a:t>
            </a:r>
            <a:endParaRPr lang="tr-TR" sz="1400" noProof="1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30F2979-8DF7-BDB6-E2EC-14A488C7469F}"/>
              </a:ext>
            </a:extLst>
          </p:cNvPr>
          <p:cNvSpPr txBox="1"/>
          <p:nvPr/>
        </p:nvSpPr>
        <p:spPr>
          <a:xfrm>
            <a:off x="766946" y="4089405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</a:t>
            </a:r>
            <a:endParaRPr lang="tr-TR" sz="1600" noProof="1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E12FEB-DCCA-736E-E63A-BC89623F26EB}"/>
              </a:ext>
            </a:extLst>
          </p:cNvPr>
          <p:cNvSpPr txBox="1"/>
          <p:nvPr/>
        </p:nvSpPr>
        <p:spPr>
          <a:xfrm>
            <a:off x="1703444" y="4094882"/>
            <a:ext cx="36586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· biçim · malzeme · görüntü</a:t>
            </a:r>
            <a:endParaRPr lang="tr-TR" sz="1400" noProof="1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C426BE9-EA50-AD9C-7A95-AC97244412AE}"/>
              </a:ext>
            </a:extLst>
          </p:cNvPr>
          <p:cNvSpPr txBox="1"/>
          <p:nvPr/>
        </p:nvSpPr>
        <p:spPr>
          <a:xfrm>
            <a:off x="766946" y="4408155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tonu</a:t>
            </a:r>
            <a:endParaRPr lang="tr-TR" sz="1600" noProof="1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2BCADDB-4E24-537A-4545-3D61E9AF622E}"/>
              </a:ext>
            </a:extLst>
          </p:cNvPr>
          <p:cNvSpPr txBox="1"/>
          <p:nvPr/>
        </p:nvSpPr>
        <p:spPr>
          <a:xfrm>
            <a:off x="1930574" y="4426288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konuşuyor?</a:t>
            </a:r>
            <a:endParaRPr lang="tr-TR" sz="1400" noProof="1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B7FE3469-5DCC-0AE0-76B5-CF1F0FC267E2}"/>
              </a:ext>
            </a:extLst>
          </p:cNvPr>
          <p:cNvSpPr txBox="1"/>
          <p:nvPr/>
        </p:nvSpPr>
        <p:spPr>
          <a:xfrm>
            <a:off x="713232" y="667513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</a:t>
            </a:r>
            <a:endParaRPr lang="tr-TR" sz="2700" noProof="1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72529C34-FF84-EE67-2D23-0F87A71017DD}"/>
              </a:ext>
            </a:extLst>
          </p:cNvPr>
          <p:cNvSpPr txBox="1"/>
          <p:nvPr/>
        </p:nvSpPr>
        <p:spPr>
          <a:xfrm>
            <a:off x="713232" y="1108422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mekânsal bir dile çevirmek.</a:t>
            </a:r>
            <a:endParaRPr lang="tr-TR" sz="1400" noProof="1"/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5B9F4AC1-A769-C51E-7F2D-327EF3DE614D}"/>
              </a:ext>
            </a:extLst>
          </p:cNvPr>
          <p:cNvCxnSpPr>
            <a:cxnSpLocks/>
          </p:cNvCxnSpPr>
          <p:nvPr/>
        </p:nvCxnSpPr>
        <p:spPr>
          <a:xfrm>
            <a:off x="0" y="1978145"/>
            <a:ext cx="754048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3D230E4-895D-D80F-1BD7-348413CF4D38}"/>
              </a:ext>
            </a:extLst>
          </p:cNvPr>
          <p:cNvSpPr/>
          <p:nvPr/>
        </p:nvSpPr>
        <p:spPr>
          <a:xfrm>
            <a:off x="753694" y="1894050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F2DF324E-C7CC-19DC-F1D5-80BD829CA9CE}"/>
              </a:ext>
            </a:extLst>
          </p:cNvPr>
          <p:cNvSpPr txBox="1"/>
          <p:nvPr/>
        </p:nvSpPr>
        <p:spPr>
          <a:xfrm>
            <a:off x="7854641" y="4104190"/>
            <a:ext cx="1242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</a:t>
            </a:r>
            <a:endParaRPr lang="tr-TR" sz="1600" noProof="1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EDE463FA-FCDE-92EA-5176-43CB7E5E637C}"/>
              </a:ext>
            </a:extLst>
          </p:cNvPr>
          <p:cNvSpPr txBox="1"/>
          <p:nvPr/>
        </p:nvSpPr>
        <p:spPr>
          <a:xfrm>
            <a:off x="8860630" y="4124465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 · ürün dili · değerler</a:t>
            </a:r>
            <a:endParaRPr lang="tr-TR" sz="1400" noProof="1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1561AEF4-9E9E-6EBC-D48A-18723F71880B}"/>
              </a:ext>
            </a:extLst>
          </p:cNvPr>
          <p:cNvSpPr txBox="1"/>
          <p:nvPr/>
        </p:nvSpPr>
        <p:spPr>
          <a:xfrm>
            <a:off x="7854641" y="440966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</a:t>
            </a:r>
            <a:endParaRPr lang="tr-TR" sz="1600" noProof="1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517DDD6D-DC56-F95C-6BD2-2EB5A760F042}"/>
              </a:ext>
            </a:extLst>
          </p:cNvPr>
          <p:cNvSpPr txBox="1"/>
          <p:nvPr/>
        </p:nvSpPr>
        <p:spPr>
          <a:xfrm>
            <a:off x="9137711" y="443436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 · iletişim · kullanıcı</a:t>
            </a:r>
            <a:endParaRPr lang="tr-TR" sz="1400" noProof="1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651F0352-820D-CFB0-844C-613ED3A06D32}"/>
              </a:ext>
            </a:extLst>
          </p:cNvPr>
          <p:cNvSpPr txBox="1"/>
          <p:nvPr/>
        </p:nvSpPr>
        <p:spPr>
          <a:xfrm>
            <a:off x="7854641" y="4720051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tr-TR" sz="1600" noProof="1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B68F484B-6ED1-1D4C-B1C2-9E2A061B007F}"/>
              </a:ext>
            </a:extLst>
          </p:cNvPr>
          <p:cNvSpPr txBox="1"/>
          <p:nvPr/>
        </p:nvSpPr>
        <p:spPr>
          <a:xfrm>
            <a:off x="8396540" y="472808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· biçim · fiyat · kullanım</a:t>
            </a:r>
            <a:endParaRPr lang="tr-TR" sz="1400" noProof="1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A37E3C7-F4A5-0767-A399-B9AB8E01510C}"/>
              </a:ext>
            </a:extLst>
          </p:cNvPr>
          <p:cNvSpPr txBox="1"/>
          <p:nvPr/>
        </p:nvSpPr>
        <p:spPr>
          <a:xfrm>
            <a:off x="7854641" y="5033437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yorumları</a:t>
            </a:r>
            <a:endParaRPr lang="tr-TR" sz="1600" noProof="1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55F6A169-48DE-A134-B007-810FFDE77B83}"/>
              </a:ext>
            </a:extLst>
          </p:cNvPr>
          <p:cNvSpPr txBox="1"/>
          <p:nvPr/>
        </p:nvSpPr>
        <p:spPr>
          <a:xfrm>
            <a:off x="9523820" y="5040662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 · memnuniyet · sorunlar</a:t>
            </a:r>
            <a:endParaRPr lang="tr-TR" sz="1400" noProof="1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66443383-9989-27EC-02E1-5DF8323CDD47}"/>
              </a:ext>
            </a:extLst>
          </p:cNvPr>
          <p:cNvSpPr txBox="1"/>
          <p:nvPr/>
        </p:nvSpPr>
        <p:spPr>
          <a:xfrm>
            <a:off x="7854641" y="534382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</a:t>
            </a:r>
            <a:endParaRPr lang="tr-TR" sz="1600" noProof="1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9DCFB808-455C-CCFD-2D4D-FDB1DD014CE8}"/>
              </a:ext>
            </a:extLst>
          </p:cNvPr>
          <p:cNvSpPr txBox="1"/>
          <p:nvPr/>
        </p:nvSpPr>
        <p:spPr>
          <a:xfrm>
            <a:off x="8664517" y="5365045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Farklılaşma · konum </a:t>
            </a:r>
            <a:endParaRPr lang="tr-TR" sz="1400" noProof="1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D7302D73-D5E9-3611-A54C-A9DB3A1805D6}"/>
              </a:ext>
            </a:extLst>
          </p:cNvPr>
          <p:cNvSpPr txBox="1"/>
          <p:nvPr/>
        </p:nvSpPr>
        <p:spPr>
          <a:xfrm>
            <a:off x="7854641" y="566386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tr-TR" sz="1600" noProof="1"/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0B377581-A80A-1507-D382-5B5E0A1B609E}"/>
              </a:ext>
            </a:extLst>
          </p:cNvPr>
          <p:cNvSpPr txBox="1"/>
          <p:nvPr/>
        </p:nvSpPr>
        <p:spPr>
          <a:xfrm>
            <a:off x="8602732" y="5673309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davranış · temas · bağlam</a:t>
            </a:r>
            <a:endParaRPr lang="tr-TR" sz="1400" noProof="1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61" name="Düz Bağlayıcı 60">
            <a:extLst>
              <a:ext uri="{FF2B5EF4-FFF2-40B4-BE49-F238E27FC236}">
                <a16:creationId xmlns:a16="http://schemas.microsoft.com/office/drawing/2014/main" id="{9CBB4836-62A7-CA80-4BB8-B29C53594F0B}"/>
              </a:ext>
            </a:extLst>
          </p:cNvPr>
          <p:cNvCxnSpPr>
            <a:cxnSpLocks/>
          </p:cNvCxnSpPr>
          <p:nvPr/>
        </p:nvCxnSpPr>
        <p:spPr>
          <a:xfrm flipV="1">
            <a:off x="7540488" y="1975304"/>
            <a:ext cx="0" cy="22227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409B7B3F-D5F6-82D8-D431-953B4E5EB660}"/>
              </a:ext>
            </a:extLst>
          </p:cNvPr>
          <p:cNvSpPr/>
          <p:nvPr/>
        </p:nvSpPr>
        <p:spPr>
          <a:xfrm>
            <a:off x="7450321" y="4087395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FFABE46D-ACD0-C7C2-DCFF-8886D5C9AC1F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tr-TR" sz="1900" noProof="1"/>
          </a:p>
        </p:txBody>
      </p:sp>
    </p:spTree>
    <p:extLst>
      <p:ext uri="{BB962C8B-B14F-4D97-AF65-F5344CB8AC3E}">
        <p14:creationId xmlns:p14="http://schemas.microsoft.com/office/powerpoint/2010/main" val="255546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2"/>
              </a:lnSpc>
              <a:buNone/>
            </a:pPr>
            <a:r>
              <a:rPr lang="tr-TR" sz="900" b="1" noProof="1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tr-TR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</a:t>
            </a:r>
            <a:endParaRPr lang="tr-TR" sz="2700" noProof="1"/>
          </a:p>
        </p:txBody>
      </p:sp>
      <p:sp>
        <p:nvSpPr>
          <p:cNvPr id="10" name="Text 8"/>
          <p:cNvSpPr txBox="1"/>
          <p:nvPr/>
        </p:nvSpPr>
        <p:spPr>
          <a:xfrm>
            <a:off x="829420" y="2139696"/>
            <a:ext cx="704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Kim?</a:t>
            </a:r>
            <a:endParaRPr lang="tr-TR" sz="1350" noProof="1"/>
          </a:p>
        </p:txBody>
      </p:sp>
      <p:sp>
        <p:nvSpPr>
          <p:cNvPr id="11" name="Text 9"/>
          <p:cNvSpPr txBox="1"/>
          <p:nvPr/>
        </p:nvSpPr>
        <p:spPr>
          <a:xfrm>
            <a:off x="54757" y="2382238"/>
            <a:ext cx="1829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biçimi 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sosyo-ekonomik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</a:t>
            </a:r>
            <a:endParaRPr lang="tr-TR" sz="1400" noProof="1"/>
          </a:p>
        </p:txBody>
      </p:sp>
      <p:sp>
        <p:nvSpPr>
          <p:cNvPr id="15" name="Text 13"/>
          <p:cNvSpPr txBox="1"/>
          <p:nvPr/>
        </p:nvSpPr>
        <p:spPr>
          <a:xfrm>
            <a:off x="2279191" y="2113505"/>
            <a:ext cx="1579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değer veriyor?</a:t>
            </a:r>
            <a:endParaRPr lang="tr-TR" sz="1350" noProof="1"/>
          </a:p>
        </p:txBody>
      </p:sp>
      <p:sp>
        <p:nvSpPr>
          <p:cNvPr id="16" name="Text 14"/>
          <p:cNvSpPr txBox="1"/>
          <p:nvPr/>
        </p:nvSpPr>
        <p:spPr>
          <a:xfrm>
            <a:off x="1878923" y="2382238"/>
            <a:ext cx="20710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öncelikler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inançlar</a:t>
            </a:r>
            <a:endParaRPr lang="tr-TR" sz="1400" noProof="1"/>
          </a:p>
        </p:txBody>
      </p:sp>
      <p:sp>
        <p:nvSpPr>
          <p:cNvPr id="20" name="Text 18"/>
          <p:cNvSpPr txBox="1"/>
          <p:nvPr/>
        </p:nvSpPr>
        <p:spPr>
          <a:xfrm>
            <a:off x="4273744" y="209877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ihtiyacı var?</a:t>
            </a:r>
            <a:endParaRPr lang="tr-TR" sz="1350" noProof="1"/>
          </a:p>
        </p:txBody>
      </p:sp>
      <p:sp>
        <p:nvSpPr>
          <p:cNvPr id="21" name="Text 19"/>
          <p:cNvSpPr txBox="1"/>
          <p:nvPr/>
        </p:nvSpPr>
        <p:spPr>
          <a:xfrm>
            <a:off x="4167142" y="2382238"/>
            <a:ext cx="14452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işlevsel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duygusal ihtiyaçlar</a:t>
            </a:r>
            <a:endParaRPr lang="tr-TR" sz="1400" noProof="1"/>
          </a:p>
        </p:txBody>
      </p:sp>
      <p:sp>
        <p:nvSpPr>
          <p:cNvPr id="22" name="Shape 20"/>
          <p:cNvSpPr/>
          <p:nvPr/>
        </p:nvSpPr>
        <p:spPr>
          <a:xfrm>
            <a:off x="6096000" y="1936044"/>
            <a:ext cx="1725168" cy="1170432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5" name="Text 23"/>
          <p:cNvSpPr txBox="1"/>
          <p:nvPr/>
        </p:nvSpPr>
        <p:spPr>
          <a:xfrm>
            <a:off x="6309058" y="2083621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davranıyor?</a:t>
            </a:r>
            <a:endParaRPr lang="tr-TR" sz="1350" noProof="1"/>
          </a:p>
        </p:txBody>
      </p:sp>
      <p:sp>
        <p:nvSpPr>
          <p:cNvPr id="26" name="Text 24"/>
          <p:cNvSpPr txBox="1"/>
          <p:nvPr/>
        </p:nvSpPr>
        <p:spPr>
          <a:xfrm>
            <a:off x="6441025" y="2266501"/>
            <a:ext cx="9861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arıyor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karşılaştırıyor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seçiyor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bekliyor</a:t>
            </a:r>
            <a:endParaRPr lang="tr-TR" sz="1400" noProof="1"/>
          </a:p>
        </p:txBody>
      </p:sp>
      <p:sp>
        <p:nvSpPr>
          <p:cNvPr id="30" name="Text 28"/>
          <p:cNvSpPr txBox="1"/>
          <p:nvPr/>
        </p:nvSpPr>
        <p:spPr>
          <a:xfrm>
            <a:off x="8493891" y="206846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hissediyor?</a:t>
            </a:r>
            <a:endParaRPr lang="tr-TR" sz="1350" noProof="1"/>
          </a:p>
        </p:txBody>
      </p:sp>
      <p:sp>
        <p:nvSpPr>
          <p:cNvPr id="31" name="Text 29"/>
          <p:cNvSpPr txBox="1"/>
          <p:nvPr/>
        </p:nvSpPr>
        <p:spPr>
          <a:xfrm>
            <a:off x="8554751" y="2324975"/>
            <a:ext cx="97052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huzursuzluk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aidiyet</a:t>
            </a:r>
            <a:endParaRPr lang="tr-TR" sz="1400" noProof="1"/>
          </a:p>
        </p:txBody>
      </p:sp>
      <p:sp>
        <p:nvSpPr>
          <p:cNvPr id="35" name="Text 33"/>
          <p:cNvSpPr txBox="1"/>
          <p:nvPr/>
        </p:nvSpPr>
        <p:spPr>
          <a:xfrm>
            <a:off x="10506837" y="2068875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3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bekliyor?</a:t>
            </a:r>
            <a:endParaRPr lang="tr-TR" sz="1350" noProof="1"/>
          </a:p>
        </p:txBody>
      </p:sp>
      <p:sp>
        <p:nvSpPr>
          <p:cNvPr id="36" name="Text 34"/>
          <p:cNvSpPr txBox="1"/>
          <p:nvPr/>
        </p:nvSpPr>
        <p:spPr>
          <a:xfrm>
            <a:off x="10563388" y="2310619"/>
            <a:ext cx="8317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kişisellik</a:t>
            </a:r>
          </a:p>
          <a:p>
            <a:pPr marL="0" indent="0" algn="ctr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kolaylık</a:t>
            </a:r>
            <a:endParaRPr lang="tr-TR" sz="1400" noProof="1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24D307C6-875A-BB4F-FEDF-EFD1DE525058}"/>
              </a:ext>
            </a:extLst>
          </p:cNvPr>
          <p:cNvCxnSpPr>
            <a:cxnSpLocks/>
          </p:cNvCxnSpPr>
          <p:nvPr/>
        </p:nvCxnSpPr>
        <p:spPr>
          <a:xfrm>
            <a:off x="0" y="1936044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F461EF56-FC50-FAA4-7D9E-1B94D24679B5}"/>
              </a:ext>
            </a:extLst>
          </p:cNvPr>
          <p:cNvSpPr/>
          <p:nvPr/>
        </p:nvSpPr>
        <p:spPr>
          <a:xfrm>
            <a:off x="872962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29AD50-F5F9-9279-2D99-8EE7A5587B6E}"/>
              </a:ext>
            </a:extLst>
          </p:cNvPr>
          <p:cNvSpPr/>
          <p:nvPr/>
        </p:nvSpPr>
        <p:spPr>
          <a:xfrm>
            <a:off x="2788349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859E63A-6268-1F02-F7BB-9E93B541E966}"/>
              </a:ext>
            </a:extLst>
          </p:cNvPr>
          <p:cNvSpPr/>
          <p:nvPr/>
        </p:nvSpPr>
        <p:spPr>
          <a:xfrm>
            <a:off x="4796982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C24C58F-DCDC-E837-460A-DED028410F3A}"/>
              </a:ext>
            </a:extLst>
          </p:cNvPr>
          <p:cNvSpPr/>
          <p:nvPr/>
        </p:nvSpPr>
        <p:spPr>
          <a:xfrm>
            <a:off x="8916552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463F16-8D96-686E-C5B3-784D398B5BCC}"/>
              </a:ext>
            </a:extLst>
          </p:cNvPr>
          <p:cNvSpPr/>
          <p:nvPr/>
        </p:nvSpPr>
        <p:spPr>
          <a:xfrm>
            <a:off x="6844817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B7F685F-A105-DB43-67E4-9188F9FFB59F}"/>
              </a:ext>
            </a:extLst>
          </p:cNvPr>
          <p:cNvSpPr/>
          <p:nvPr/>
        </p:nvSpPr>
        <p:spPr>
          <a:xfrm>
            <a:off x="10873745" y="1851949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5B20B3A-2A8C-6AB3-C22A-88B5C59304D1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tr-TR" sz="1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13232" y="658368"/>
            <a:ext cx="24985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tr-TR" sz="2700" noProof="1"/>
          </a:p>
        </p:txBody>
      </p:sp>
      <p:sp>
        <p:nvSpPr>
          <p:cNvPr id="7" name="Shape 5"/>
          <p:cNvSpPr/>
          <p:nvPr/>
        </p:nvSpPr>
        <p:spPr>
          <a:xfrm>
            <a:off x="713232" y="1990851"/>
            <a:ext cx="2498598" cy="12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endParaRPr lang="tr-TR" noProof="1"/>
          </a:p>
        </p:txBody>
      </p:sp>
      <p:sp>
        <p:nvSpPr>
          <p:cNvPr id="9" name="Text 7"/>
          <p:cNvSpPr txBox="1"/>
          <p:nvPr/>
        </p:nvSpPr>
        <p:spPr>
          <a:xfrm>
            <a:off x="859536" y="2285999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tr-TR" sz="1400" noProof="1"/>
          </a:p>
        </p:txBody>
      </p:sp>
      <p:sp>
        <p:nvSpPr>
          <p:cNvPr id="12" name="Shape 10"/>
          <p:cNvSpPr/>
          <p:nvPr/>
        </p:nvSpPr>
        <p:spPr>
          <a:xfrm>
            <a:off x="3467862" y="1990851"/>
            <a:ext cx="2498598" cy="12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endParaRPr lang="tr-TR" noProof="1"/>
          </a:p>
        </p:txBody>
      </p:sp>
      <p:sp>
        <p:nvSpPr>
          <p:cNvPr id="14" name="Text 12"/>
          <p:cNvSpPr txBox="1"/>
          <p:nvPr/>
        </p:nvSpPr>
        <p:spPr>
          <a:xfrm>
            <a:off x="3614166" y="2285999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kelime havuzu</a:t>
            </a:r>
            <a:endParaRPr lang="tr-TR" sz="1400" noProof="1"/>
          </a:p>
        </p:txBody>
      </p:sp>
      <p:sp>
        <p:nvSpPr>
          <p:cNvPr id="17" name="Shape 15"/>
          <p:cNvSpPr/>
          <p:nvPr/>
        </p:nvSpPr>
        <p:spPr>
          <a:xfrm>
            <a:off x="6222492" y="1990851"/>
            <a:ext cx="2498598" cy="12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endParaRPr lang="tr-TR" noProof="1"/>
          </a:p>
        </p:txBody>
      </p:sp>
      <p:sp>
        <p:nvSpPr>
          <p:cNvPr id="19" name="Text 17"/>
          <p:cNvSpPr txBox="1"/>
          <p:nvPr/>
        </p:nvSpPr>
        <p:spPr>
          <a:xfrm>
            <a:off x="6368796" y="2285999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ve eleme</a:t>
            </a:r>
            <a:endParaRPr lang="tr-TR" sz="1400" noProof="1"/>
          </a:p>
        </p:txBody>
      </p:sp>
      <p:sp>
        <p:nvSpPr>
          <p:cNvPr id="22" name="Shape 20"/>
          <p:cNvSpPr/>
          <p:nvPr/>
        </p:nvSpPr>
        <p:spPr>
          <a:xfrm>
            <a:off x="8977122" y="1990851"/>
            <a:ext cx="2498598" cy="1247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endParaRPr lang="tr-TR" noProof="1"/>
          </a:p>
        </p:txBody>
      </p:sp>
      <p:sp>
        <p:nvSpPr>
          <p:cNvPr id="24" name="Text 22"/>
          <p:cNvSpPr txBox="1"/>
          <p:nvPr/>
        </p:nvSpPr>
        <p:spPr>
          <a:xfrm>
            <a:off x="9123426" y="2285999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tr-TR" sz="1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tr-TR" sz="1400" noProof="1"/>
          </a:p>
        </p:txBody>
      </p:sp>
      <p:sp>
        <p:nvSpPr>
          <p:cNvPr id="29" name="Text 27"/>
          <p:cNvSpPr txBox="1"/>
          <p:nvPr/>
        </p:nvSpPr>
        <p:spPr>
          <a:xfrm>
            <a:off x="8000326" y="4992982"/>
            <a:ext cx="3797974" cy="752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Her markaya uyacak kadar genel olmamalı.</a:t>
            </a:r>
          </a:p>
          <a:p>
            <a:pPr algn="r"/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 karşılığı bulunmalı.</a:t>
            </a:r>
          </a:p>
          <a:p>
            <a:pPr algn="r"/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Mekânda somut bir karşılığı kurulabilmeli.</a:t>
            </a:r>
            <a:endParaRPr lang="tr-TR" sz="1400" noProof="1"/>
          </a:p>
          <a:p>
            <a:pPr algn="r"/>
            <a:endParaRPr lang="tr-TR" sz="1400" noProof="1"/>
          </a:p>
          <a:p>
            <a:pPr marL="0" indent="0" algn="r">
              <a:buNone/>
            </a:pPr>
            <a:endParaRPr lang="tr-TR" sz="1400" noProof="1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27096B2E-F1D1-1099-E951-D1CDC8C31EA6}"/>
              </a:ext>
            </a:extLst>
          </p:cNvPr>
          <p:cNvCxnSpPr>
            <a:cxnSpLocks/>
          </p:cNvCxnSpPr>
          <p:nvPr/>
        </p:nvCxnSpPr>
        <p:spPr>
          <a:xfrm>
            <a:off x="10553700" y="2389405"/>
            <a:ext cx="13081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Düz Bağlayıcı 27">
            <a:extLst>
              <a:ext uri="{FF2B5EF4-FFF2-40B4-BE49-F238E27FC236}">
                <a16:creationId xmlns:a16="http://schemas.microsoft.com/office/drawing/2014/main" id="{5D9B2D42-FC26-2074-EF4A-B70DD7E953FE}"/>
              </a:ext>
            </a:extLst>
          </p:cNvPr>
          <p:cNvCxnSpPr>
            <a:cxnSpLocks/>
          </p:cNvCxnSpPr>
          <p:nvPr/>
        </p:nvCxnSpPr>
        <p:spPr>
          <a:xfrm>
            <a:off x="11861800" y="2389405"/>
            <a:ext cx="0" cy="31985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D023354-5B84-A374-691B-B279F11996D5}"/>
              </a:ext>
            </a:extLst>
          </p:cNvPr>
          <p:cNvSpPr/>
          <p:nvPr/>
        </p:nvSpPr>
        <p:spPr>
          <a:xfrm>
            <a:off x="10463532" y="2299238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ikdörtgen 48">
            <a:extLst>
              <a:ext uri="{FF2B5EF4-FFF2-40B4-BE49-F238E27FC236}">
                <a16:creationId xmlns:a16="http://schemas.microsoft.com/office/drawing/2014/main" id="{4E65E5EE-52FD-66DA-480F-E4442C0F54AB}"/>
              </a:ext>
            </a:extLst>
          </p:cNvPr>
          <p:cNvSpPr/>
          <p:nvPr/>
        </p:nvSpPr>
        <p:spPr>
          <a:xfrm>
            <a:off x="10165461" y="2377440"/>
            <a:ext cx="1313307" cy="1051560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2F3B8BE8-7907-F96A-8782-5C0903D65AB3}"/>
              </a:ext>
            </a:extLst>
          </p:cNvPr>
          <p:cNvSpPr/>
          <p:nvPr/>
        </p:nvSpPr>
        <p:spPr>
          <a:xfrm>
            <a:off x="713232" y="2377440"/>
            <a:ext cx="1313307" cy="1051560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793097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FARKINDALIK</a:t>
            </a:r>
            <a:endParaRPr lang="tr-TR" sz="1600" noProof="1"/>
          </a:p>
        </p:txBody>
      </p:sp>
      <p:sp>
        <p:nvSpPr>
          <p:cNvPr id="10" name="Shape 8"/>
          <p:cNvSpPr/>
          <p:nvPr/>
        </p:nvSpPr>
        <p:spPr>
          <a:xfrm>
            <a:off x="2063115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2" name="Text 10"/>
          <p:cNvSpPr txBox="1"/>
          <p:nvPr/>
        </p:nvSpPr>
        <p:spPr>
          <a:xfrm>
            <a:off x="2142980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ÇEKİM</a:t>
            </a:r>
            <a:endParaRPr lang="tr-TR" sz="1600" noProof="1"/>
          </a:p>
        </p:txBody>
      </p:sp>
      <p:sp>
        <p:nvSpPr>
          <p:cNvPr id="13" name="Shape 11"/>
          <p:cNvSpPr/>
          <p:nvPr/>
        </p:nvSpPr>
        <p:spPr>
          <a:xfrm>
            <a:off x="3412998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5" name="Text 13"/>
          <p:cNvSpPr txBox="1"/>
          <p:nvPr/>
        </p:nvSpPr>
        <p:spPr>
          <a:xfrm>
            <a:off x="3492863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EŞİK</a:t>
            </a:r>
            <a:endParaRPr lang="tr-TR" sz="1600" noProof="1"/>
          </a:p>
        </p:txBody>
      </p:sp>
      <p:sp>
        <p:nvSpPr>
          <p:cNvPr id="16" name="Shape 14"/>
          <p:cNvSpPr/>
          <p:nvPr/>
        </p:nvSpPr>
        <p:spPr>
          <a:xfrm>
            <a:off x="4762881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8" name="Text 16"/>
          <p:cNvSpPr txBox="1"/>
          <p:nvPr/>
        </p:nvSpPr>
        <p:spPr>
          <a:xfrm>
            <a:off x="4842746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YÖNLENME</a:t>
            </a:r>
            <a:endParaRPr lang="tr-TR" sz="1600" noProof="1"/>
          </a:p>
        </p:txBody>
      </p:sp>
      <p:sp>
        <p:nvSpPr>
          <p:cNvPr id="19" name="Shape 17"/>
          <p:cNvSpPr/>
          <p:nvPr/>
        </p:nvSpPr>
        <p:spPr>
          <a:xfrm>
            <a:off x="6112764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1" name="Text 19"/>
          <p:cNvSpPr txBox="1"/>
          <p:nvPr/>
        </p:nvSpPr>
        <p:spPr>
          <a:xfrm>
            <a:off x="6192629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KEŞİF</a:t>
            </a:r>
            <a:endParaRPr lang="tr-TR" sz="1600" noProof="1"/>
          </a:p>
        </p:txBody>
      </p:sp>
      <p:sp>
        <p:nvSpPr>
          <p:cNvPr id="22" name="Shape 20"/>
          <p:cNvSpPr/>
          <p:nvPr/>
        </p:nvSpPr>
        <p:spPr>
          <a:xfrm>
            <a:off x="7462647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4" name="Text 22"/>
          <p:cNvSpPr txBox="1"/>
          <p:nvPr/>
        </p:nvSpPr>
        <p:spPr>
          <a:xfrm>
            <a:off x="7542512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ETKİLEŞİM</a:t>
            </a:r>
            <a:endParaRPr lang="tr-TR" sz="1600" noProof="1"/>
          </a:p>
        </p:txBody>
      </p:sp>
      <p:sp>
        <p:nvSpPr>
          <p:cNvPr id="25" name="Shape 23"/>
          <p:cNvSpPr/>
          <p:nvPr/>
        </p:nvSpPr>
        <p:spPr>
          <a:xfrm>
            <a:off x="8812530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7" name="Text 25"/>
          <p:cNvSpPr txBox="1"/>
          <p:nvPr/>
        </p:nvSpPr>
        <p:spPr>
          <a:xfrm>
            <a:off x="8892395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ALMA</a:t>
            </a:r>
            <a:endParaRPr lang="tr-TR" sz="1600" noProof="1"/>
          </a:p>
        </p:txBody>
      </p:sp>
      <p:sp>
        <p:nvSpPr>
          <p:cNvPr id="30" name="Text 28"/>
          <p:cNvSpPr txBox="1"/>
          <p:nvPr/>
        </p:nvSpPr>
        <p:spPr>
          <a:xfrm>
            <a:off x="10242278" y="2536863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tr-TR" sz="1600" b="1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AYRILIŞ</a:t>
            </a:r>
            <a:endParaRPr lang="tr-TR" sz="1600" noProof="1"/>
          </a:p>
        </p:txBody>
      </p:sp>
      <p:sp>
        <p:nvSpPr>
          <p:cNvPr id="32" name="Text 30"/>
          <p:cNvSpPr txBox="1"/>
          <p:nvPr/>
        </p:nvSpPr>
        <p:spPr>
          <a:xfrm>
            <a:off x="5711852" y="3988625"/>
            <a:ext cx="1860804" cy="367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b="1" noProof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MEKAN</a:t>
            </a:r>
            <a:endParaRPr lang="tr-TR" sz="1400" noProof="1"/>
          </a:p>
        </p:txBody>
      </p:sp>
      <p:sp>
        <p:nvSpPr>
          <p:cNvPr id="33" name="Text 31"/>
          <p:cNvSpPr txBox="1"/>
          <p:nvPr/>
        </p:nvSpPr>
        <p:spPr>
          <a:xfrm>
            <a:off x="713232" y="398862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dışında</a:t>
            </a:r>
            <a:endParaRPr lang="tr-TR" sz="1400" noProof="1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9CC68D6E-840E-789F-7F89-1F82678794F6}"/>
              </a:ext>
            </a:extLst>
          </p:cNvPr>
          <p:cNvSpPr txBox="1"/>
          <p:nvPr/>
        </p:nvSpPr>
        <p:spPr>
          <a:xfrm>
            <a:off x="2154555" y="2761758"/>
            <a:ext cx="12218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görsel temas</a:t>
            </a:r>
            <a:endParaRPr lang="tr-TR" sz="1400" noProof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72C73AF2-9D78-7399-D16E-9EEB29B1D6B3}"/>
              </a:ext>
            </a:extLst>
          </p:cNvPr>
          <p:cNvSpPr txBox="1"/>
          <p:nvPr/>
        </p:nvSpPr>
        <p:spPr>
          <a:xfrm>
            <a:off x="3517655" y="2754850"/>
            <a:ext cx="80352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izlenim 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</a:t>
            </a:r>
            <a:endParaRPr lang="tr-TR" sz="1400" noProof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E22459B9-71F5-7B2D-0FB8-5448067AF142}"/>
              </a:ext>
            </a:extLst>
          </p:cNvPr>
          <p:cNvSpPr txBox="1"/>
          <p:nvPr/>
        </p:nvSpPr>
        <p:spPr>
          <a:xfrm>
            <a:off x="4842746" y="2755742"/>
            <a:ext cx="11304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dolaşım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 hatları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işaretleme</a:t>
            </a:r>
            <a:endParaRPr lang="tr-TR" sz="1400" noProof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3F9621EB-B668-BF0A-3153-296D99AAF22D}"/>
              </a:ext>
            </a:extLst>
          </p:cNvPr>
          <p:cNvSpPr txBox="1"/>
          <p:nvPr/>
        </p:nvSpPr>
        <p:spPr>
          <a:xfrm>
            <a:off x="6192629" y="2765465"/>
            <a:ext cx="116700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grupları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sergileme</a:t>
            </a: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B11F5736-2E7C-7694-C175-24F421567016}"/>
              </a:ext>
            </a:extLst>
          </p:cNvPr>
          <p:cNvSpPr txBox="1"/>
          <p:nvPr/>
        </p:nvSpPr>
        <p:spPr>
          <a:xfrm>
            <a:off x="7554087" y="2770407"/>
            <a:ext cx="11188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-120"/>
              </a:rPr>
              <a:t>teknoloji</a:t>
            </a:r>
            <a:endParaRPr lang="tr-TR" sz="1400" noProof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AD81263F-DEF6-4AF0-460E-BB194C0B6D81}"/>
              </a:ext>
            </a:extLst>
          </p:cNvPr>
          <p:cNvSpPr txBox="1"/>
          <p:nvPr/>
        </p:nvSpPr>
        <p:spPr>
          <a:xfrm>
            <a:off x="8889674" y="2761758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</a:t>
            </a:r>
          </a:p>
          <a:p>
            <a:pPr marL="0" indent="0">
              <a:lnSpc>
                <a:spcPts val="1344"/>
              </a:lnSpc>
              <a:buNone/>
            </a:pPr>
            <a:r>
              <a:rPr lang="tr-TR" sz="1400" noProof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paketleme</a:t>
            </a:r>
            <a:endParaRPr lang="tr-TR" sz="1400" noProof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FAC7450-E071-C349-45D8-E321857F3C02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I Etkileşim</a:t>
            </a:r>
            <a:endParaRPr lang="tr-TR" sz="2700" noProof="1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EA45B45-D935-0C5D-E415-D209845180EE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mekânsal yolculuğu</a:t>
            </a:r>
            <a:endParaRPr lang="tr-TR" sz="1600" noProof="1"/>
          </a:p>
        </p:txBody>
      </p:sp>
      <p:cxnSp>
        <p:nvCxnSpPr>
          <p:cNvPr id="37" name="Düz Bağlayıcı 36">
            <a:extLst>
              <a:ext uri="{FF2B5EF4-FFF2-40B4-BE49-F238E27FC236}">
                <a16:creationId xmlns:a16="http://schemas.microsoft.com/office/drawing/2014/main" id="{DE38B8D1-CDAE-6F46-98B9-0AD7F7008270}"/>
              </a:ext>
            </a:extLst>
          </p:cNvPr>
          <p:cNvCxnSpPr>
            <a:cxnSpLocks/>
          </p:cNvCxnSpPr>
          <p:nvPr/>
        </p:nvCxnSpPr>
        <p:spPr>
          <a:xfrm>
            <a:off x="0" y="3799105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2D0E231-D902-666E-AF7B-30F78BC3E636}"/>
              </a:ext>
            </a:extLst>
          </p:cNvPr>
          <p:cNvSpPr/>
          <p:nvPr/>
        </p:nvSpPr>
        <p:spPr>
          <a:xfrm>
            <a:off x="1963173" y="3715010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C2DE75-C573-4B93-B725-DF693FD602F7}"/>
              </a:ext>
            </a:extLst>
          </p:cNvPr>
          <p:cNvSpPr/>
          <p:nvPr/>
        </p:nvSpPr>
        <p:spPr>
          <a:xfrm>
            <a:off x="6002011" y="3715010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A85C42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FA0E932-AB3F-200D-A007-DDA3A79902A3}"/>
              </a:ext>
            </a:extLst>
          </p:cNvPr>
          <p:cNvSpPr/>
          <p:nvPr/>
        </p:nvSpPr>
        <p:spPr>
          <a:xfrm>
            <a:off x="10048493" y="3715010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F657634B-2018-FBF6-B237-2AD16B302992}"/>
              </a:ext>
            </a:extLst>
          </p:cNvPr>
          <p:cNvSpPr txBox="1"/>
          <p:nvPr/>
        </p:nvSpPr>
        <p:spPr>
          <a:xfrm>
            <a:off x="10227622" y="398862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dışında</a:t>
            </a:r>
            <a:endParaRPr lang="tr-TR" sz="1400" noProof="1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FF78C261-283E-45D8-CABE-C7A9733673B2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tr-TR" sz="1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605656" y="2296256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8" name="Text 6"/>
          <p:cNvSpPr txBox="1"/>
          <p:nvPr/>
        </p:nvSpPr>
        <p:spPr>
          <a:xfrm>
            <a:off x="1215781" y="2296256"/>
            <a:ext cx="726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Görme</a:t>
            </a:r>
            <a:endParaRPr lang="tr-TR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2306440" y="2296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ışık · renk · kontrast · görüş hattı</a:t>
            </a:r>
            <a:endParaRPr lang="tr-TR" sz="1400" noProof="1"/>
          </a:p>
        </p:txBody>
      </p:sp>
      <p:sp>
        <p:nvSpPr>
          <p:cNvPr id="12" name="Shape 10"/>
          <p:cNvSpPr/>
          <p:nvPr/>
        </p:nvSpPr>
        <p:spPr>
          <a:xfrm>
            <a:off x="605656" y="2899760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3" name="Text 11"/>
          <p:cNvSpPr txBox="1"/>
          <p:nvPr/>
        </p:nvSpPr>
        <p:spPr>
          <a:xfrm>
            <a:off x="946419" y="2899760"/>
            <a:ext cx="99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Dokunma</a:t>
            </a:r>
            <a:endParaRPr lang="tr-TR" sz="1600" noProof="1"/>
          </a:p>
        </p:txBody>
      </p:sp>
      <p:sp>
        <p:nvSpPr>
          <p:cNvPr id="14" name="Text 12"/>
          <p:cNvSpPr txBox="1"/>
          <p:nvPr/>
        </p:nvSpPr>
        <p:spPr>
          <a:xfrm>
            <a:off x="2306440" y="2899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tr-TR" sz="1400" noProof="1">
                <a:latin typeface="Calibri" pitchFamily="34" charset="0"/>
                <a:cs typeface="Calibri" pitchFamily="34" charset="-120"/>
              </a:rPr>
              <a:t>malzeme · doku · sıcaklık · ağırlık</a:t>
            </a:r>
          </a:p>
        </p:txBody>
      </p:sp>
      <p:sp>
        <p:nvSpPr>
          <p:cNvPr id="17" name="Shape 15"/>
          <p:cNvSpPr/>
          <p:nvPr/>
        </p:nvSpPr>
        <p:spPr>
          <a:xfrm>
            <a:off x="605656" y="3503264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8" name="Text 16"/>
          <p:cNvSpPr txBox="1"/>
          <p:nvPr/>
        </p:nvSpPr>
        <p:spPr>
          <a:xfrm>
            <a:off x="1215780" y="3503264"/>
            <a:ext cx="726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İşitme</a:t>
            </a:r>
            <a:endParaRPr lang="tr-TR" sz="1600" noProof="1"/>
          </a:p>
        </p:txBody>
      </p:sp>
      <p:sp>
        <p:nvSpPr>
          <p:cNvPr id="19" name="Text 17"/>
          <p:cNvSpPr txBox="1"/>
          <p:nvPr/>
        </p:nvSpPr>
        <p:spPr>
          <a:xfrm>
            <a:off x="2306440" y="35032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akustik · müzik · sessizlik</a:t>
            </a:r>
            <a:endParaRPr lang="tr-TR" sz="1400" noProof="1"/>
          </a:p>
        </p:txBody>
      </p:sp>
      <p:sp>
        <p:nvSpPr>
          <p:cNvPr id="22" name="Shape 20"/>
          <p:cNvSpPr/>
          <p:nvPr/>
        </p:nvSpPr>
        <p:spPr>
          <a:xfrm>
            <a:off x="605656" y="4106768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3" name="Text 21"/>
          <p:cNvSpPr txBox="1"/>
          <p:nvPr/>
        </p:nvSpPr>
        <p:spPr>
          <a:xfrm>
            <a:off x="963088" y="4106768"/>
            <a:ext cx="99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Koklama</a:t>
            </a:r>
            <a:endParaRPr lang="tr-TR" sz="1600" noProof="1"/>
          </a:p>
        </p:txBody>
      </p:sp>
      <p:sp>
        <p:nvSpPr>
          <p:cNvPr id="24" name="Text 22"/>
          <p:cNvSpPr txBox="1"/>
          <p:nvPr/>
        </p:nvSpPr>
        <p:spPr>
          <a:xfrm>
            <a:off x="2306440" y="4106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koku · hafıza · kaynak</a:t>
            </a:r>
            <a:endParaRPr lang="tr-TR" sz="1400" noProof="1"/>
          </a:p>
        </p:txBody>
      </p:sp>
      <p:sp>
        <p:nvSpPr>
          <p:cNvPr id="27" name="Shape 25"/>
          <p:cNvSpPr/>
          <p:nvPr/>
        </p:nvSpPr>
        <p:spPr>
          <a:xfrm>
            <a:off x="605656" y="4710272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8" name="Text 26"/>
          <p:cNvSpPr txBox="1"/>
          <p:nvPr/>
        </p:nvSpPr>
        <p:spPr>
          <a:xfrm>
            <a:off x="1443422" y="4710272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tr-TR" sz="1600" noProof="1"/>
          </a:p>
        </p:txBody>
      </p:sp>
      <p:sp>
        <p:nvSpPr>
          <p:cNvPr id="29" name="Text 27"/>
          <p:cNvSpPr txBox="1"/>
          <p:nvPr/>
        </p:nvSpPr>
        <p:spPr>
          <a:xfrm>
            <a:off x="2306440" y="47102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tadım · ikram</a:t>
            </a:r>
            <a:endParaRPr lang="tr-TR" sz="1400" noProof="1"/>
          </a:p>
        </p:txBody>
      </p:sp>
      <p:sp>
        <p:nvSpPr>
          <p:cNvPr id="32" name="Shape 30"/>
          <p:cNvSpPr/>
          <p:nvPr/>
        </p:nvSpPr>
        <p:spPr>
          <a:xfrm>
            <a:off x="605656" y="5313776"/>
            <a:ext cx="1554480" cy="548640"/>
          </a:xfrm>
          <a:prstGeom prst="rect">
            <a:avLst/>
          </a:prstGeom>
          <a:noFill/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33" name="Text 31"/>
          <p:cNvSpPr txBox="1"/>
          <p:nvPr/>
        </p:nvSpPr>
        <p:spPr>
          <a:xfrm>
            <a:off x="1229109" y="5313776"/>
            <a:ext cx="726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92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Beden</a:t>
            </a:r>
            <a:endParaRPr lang="tr-TR" sz="1600" noProof="1"/>
          </a:p>
        </p:txBody>
      </p:sp>
      <p:sp>
        <p:nvSpPr>
          <p:cNvPr id="34" name="Text 32"/>
          <p:cNvSpPr txBox="1"/>
          <p:nvPr/>
        </p:nvSpPr>
        <p:spPr>
          <a:xfrm>
            <a:off x="2306440" y="53137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40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ısı · hava · kot · ritim · yoğunluk</a:t>
            </a:r>
            <a:endParaRPr lang="tr-TR" sz="1400" noProof="1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7DB5046-CACE-39E8-E210-9191F94ACD06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I Etkileşim</a:t>
            </a:r>
            <a:endParaRPr lang="tr-TR" sz="2700" noProof="1"/>
          </a:p>
        </p:txBody>
      </p:sp>
      <p:cxnSp>
        <p:nvCxnSpPr>
          <p:cNvPr id="41" name="Düz Bağlayıcı 40">
            <a:extLst>
              <a:ext uri="{FF2B5EF4-FFF2-40B4-BE49-F238E27FC236}">
                <a16:creationId xmlns:a16="http://schemas.microsoft.com/office/drawing/2014/main" id="{1F1AFD09-D31F-F2C5-FF66-B6487E2ECA6C}"/>
              </a:ext>
            </a:extLst>
          </p:cNvPr>
          <p:cNvCxnSpPr>
            <a:cxnSpLocks/>
          </p:cNvCxnSpPr>
          <p:nvPr/>
        </p:nvCxnSpPr>
        <p:spPr>
          <a:xfrm flipV="1">
            <a:off x="2104790" y="2224019"/>
            <a:ext cx="0" cy="344255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2415D89-5205-59B3-F2FA-12E724F6F967}"/>
              </a:ext>
            </a:extLst>
          </p:cNvPr>
          <p:cNvSpPr/>
          <p:nvPr/>
        </p:nvSpPr>
        <p:spPr>
          <a:xfrm>
            <a:off x="2014623" y="2097634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B8699FA-B4A4-6446-9CC5-B5EE3885741B}"/>
              </a:ext>
            </a:extLst>
          </p:cNvPr>
          <p:cNvSpPr txBox="1"/>
          <p:nvPr/>
        </p:nvSpPr>
        <p:spPr>
          <a:xfrm>
            <a:off x="1769992" y="1743761"/>
            <a:ext cx="107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600" b="1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duyular</a:t>
            </a:r>
            <a:endParaRPr lang="tr-TR" sz="1600" b="1" noProof="1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DBAB0588-992C-F3EF-2E2D-9B5FDB5CC5D0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tr-TR" sz="1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B7049-3783-6B29-A292-91A50E6A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>
            <a:extLst>
              <a:ext uri="{FF2B5EF4-FFF2-40B4-BE49-F238E27FC236}">
                <a16:creationId xmlns:a16="http://schemas.microsoft.com/office/drawing/2014/main" id="{44080D50-14A4-4E6B-BAF9-7EBA3FA23D52}"/>
              </a:ext>
            </a:extLst>
          </p:cNvPr>
          <p:cNvSpPr/>
          <p:nvPr/>
        </p:nvSpPr>
        <p:spPr>
          <a:xfrm>
            <a:off x="6185119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3F7A7163-1050-0672-3864-03A2781BCDD0}"/>
              </a:ext>
            </a:extLst>
          </p:cNvPr>
          <p:cNvSpPr/>
          <p:nvPr/>
        </p:nvSpPr>
        <p:spPr>
          <a:xfrm>
            <a:off x="8942833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45A9F3E-34B4-AD48-7DD9-917310406B7A}"/>
              </a:ext>
            </a:extLst>
          </p:cNvPr>
          <p:cNvSpPr/>
          <p:nvPr/>
        </p:nvSpPr>
        <p:spPr>
          <a:xfrm>
            <a:off x="3470947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5FD7080-D251-EDFB-CEDD-47BEB39CFB09}"/>
              </a:ext>
            </a:extLst>
          </p:cNvPr>
          <p:cNvSpPr/>
          <p:nvPr/>
        </p:nvSpPr>
        <p:spPr>
          <a:xfrm>
            <a:off x="713232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0931C8-8DAF-ED1D-C9B6-F9F6833B4A21}"/>
              </a:ext>
            </a:extLst>
          </p:cNvPr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2"/>
              </a:lnSpc>
              <a:buNone/>
            </a:pPr>
            <a:r>
              <a:rPr lang="tr-TR" sz="900" b="1" noProof="1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tr-TR" sz="90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75BC7E-7B5E-4146-C98B-49A0E0CB7882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bir seramik markası. -- El yapımı seramik ev ve sofra ürünleri. </a:t>
            </a:r>
            <a:endParaRPr lang="tr-TR" sz="1400" noProof="1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7ECBA323-516D-8BF1-766C-41733CA51228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 (Vaka analizi)</a:t>
            </a:r>
            <a:endParaRPr lang="tr-TR" sz="2700" noProof="1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52B9605-C8EB-486E-4FC8-4A29D2BA2EB3}"/>
              </a:ext>
            </a:extLst>
          </p:cNvPr>
          <p:cNvSpPr txBox="1"/>
          <p:nvPr/>
        </p:nvSpPr>
        <p:spPr>
          <a:xfrm>
            <a:off x="859536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özelliği</a:t>
            </a:r>
            <a:endParaRPr lang="tr-TR" sz="1600" noProof="1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CFDE233D-B1B5-009E-1739-45C931BD01F0}"/>
              </a:ext>
            </a:extLst>
          </p:cNvPr>
          <p:cNvSpPr txBox="1"/>
          <p:nvPr/>
        </p:nvSpPr>
        <p:spPr>
          <a:xfrm>
            <a:off x="859536" y="2537503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 bulunan somut olgu</a:t>
            </a:r>
            <a:endParaRPr lang="tr-TR" sz="1400" noProof="1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8ECB67B8-AA73-41E7-77D5-CCA4EFEFC910}"/>
              </a:ext>
            </a:extLst>
          </p:cNvPr>
          <p:cNvSpPr txBox="1"/>
          <p:nvPr/>
        </p:nvSpPr>
        <p:spPr>
          <a:xfrm>
            <a:off x="3618738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tr-TR" sz="1600" noProof="1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E03E3ECE-809A-3E20-56BB-BDAB29656C47}"/>
              </a:ext>
            </a:extLst>
          </p:cNvPr>
          <p:cNvSpPr txBox="1"/>
          <p:nvPr/>
        </p:nvSpPr>
        <p:spPr>
          <a:xfrm>
            <a:off x="3618738" y="253465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kavramsallaştırılma</a:t>
            </a:r>
            <a:endParaRPr lang="tr-TR" sz="1400" noProof="1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8A9F8DA1-0F95-DAB9-E31C-C1DC502B8175}"/>
              </a:ext>
            </a:extLst>
          </p:cNvPr>
          <p:cNvSpPr txBox="1"/>
          <p:nvPr/>
        </p:nvSpPr>
        <p:spPr>
          <a:xfrm>
            <a:off x="6377940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ilke</a:t>
            </a:r>
            <a:endParaRPr lang="tr-TR" sz="1600" noProof="1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5B6C1C26-D52B-CD28-1A49-6F3F822A2A94}"/>
              </a:ext>
            </a:extLst>
          </p:cNvPr>
          <p:cNvSpPr txBox="1"/>
          <p:nvPr/>
        </p:nvSpPr>
        <p:spPr>
          <a:xfrm>
            <a:off x="6377940" y="253465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üretme</a:t>
            </a:r>
            <a:endParaRPr lang="tr-TR" sz="1400" noProof="1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E77458F7-B064-0BA4-D064-70E0BB722711}"/>
              </a:ext>
            </a:extLst>
          </p:cNvPr>
          <p:cNvSpPr txBox="1"/>
          <p:nvPr/>
        </p:nvSpPr>
        <p:spPr>
          <a:xfrm>
            <a:off x="9137142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latin typeface="Calibri" pitchFamily="34" charset="0"/>
                <a:cs typeface="Calibri" pitchFamily="34" charset="-120"/>
              </a:rPr>
              <a:t>Tasarım</a:t>
            </a: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 öğesi</a:t>
            </a:r>
            <a:endParaRPr lang="tr-TR" sz="1600" noProof="1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E5D75D85-948A-1B1F-FF61-EF5AF49010EC}"/>
              </a:ext>
            </a:extLst>
          </p:cNvPr>
          <p:cNvSpPr txBox="1"/>
          <p:nvPr/>
        </p:nvSpPr>
        <p:spPr>
          <a:xfrm>
            <a:off x="9137142" y="253147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çizilebilir, ölçülebilir karar</a:t>
            </a:r>
            <a:endParaRPr lang="tr-TR" sz="1400" noProof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A5BB5230-0EDD-2EA1-B2B7-057595005D2A}"/>
              </a:ext>
            </a:extLst>
          </p:cNvPr>
          <p:cNvSpPr/>
          <p:nvPr/>
        </p:nvSpPr>
        <p:spPr>
          <a:xfrm>
            <a:off x="713232" y="3731965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8D9BE4BC-20B8-46D8-A10A-E858EA7E7570}"/>
              </a:ext>
            </a:extLst>
          </p:cNvPr>
          <p:cNvSpPr txBox="1"/>
          <p:nvPr/>
        </p:nvSpPr>
        <p:spPr>
          <a:xfrm>
            <a:off x="950976" y="3702447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varız</a:t>
            </a:r>
            <a:endParaRPr lang="tr-TR" sz="1600" noProof="1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41B2C92-35D2-3ABC-2534-90A420EFAEBB}"/>
              </a:ext>
            </a:extLst>
          </p:cNvPr>
          <p:cNvSpPr txBox="1"/>
          <p:nvPr/>
        </p:nvSpPr>
        <p:spPr>
          <a:xfrm>
            <a:off x="2087381" y="3726106"/>
            <a:ext cx="5691325" cy="46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Gündelik yaşama üretim ve malzeme duygusu katmak</a:t>
            </a:r>
            <a:endParaRPr lang="tr-TR" sz="1600" noProof="1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1A6FC73-BB3D-F27D-71C9-DC52B32B3FED}"/>
              </a:ext>
            </a:extLst>
          </p:cNvPr>
          <p:cNvSpPr/>
          <p:nvPr/>
        </p:nvSpPr>
        <p:spPr>
          <a:xfrm>
            <a:off x="713232" y="3972613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81B9335-CDE7-61E0-34A1-3BFDE35F85CF}"/>
              </a:ext>
            </a:extLst>
          </p:cNvPr>
          <p:cNvSpPr txBox="1"/>
          <p:nvPr/>
        </p:nvSpPr>
        <p:spPr>
          <a:xfrm>
            <a:off x="950976" y="3940191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</a:t>
            </a:r>
            <a:endParaRPr lang="tr-TR" sz="1600" noProof="1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A518D11-64EB-58BF-A43B-1B9E56D79F03}"/>
              </a:ext>
            </a:extLst>
          </p:cNvPr>
          <p:cNvSpPr txBox="1"/>
          <p:nvPr/>
        </p:nvSpPr>
        <p:spPr>
          <a:xfrm>
            <a:off x="1463365" y="3937461"/>
            <a:ext cx="5691325" cy="46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Atölyesini müşteriye açabilen, öğreten bir dükkân olmak</a:t>
            </a:r>
            <a:endParaRPr lang="tr-TR" sz="1600" noProof="1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8B3B074-33E9-5EED-D2BB-E4B39059F89E}"/>
              </a:ext>
            </a:extLst>
          </p:cNvPr>
          <p:cNvSpPr/>
          <p:nvPr/>
        </p:nvSpPr>
        <p:spPr>
          <a:xfrm>
            <a:off x="713232" y="4179007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A27DC1C1-D0C4-6CAF-B070-1A3DFF36CAEF}"/>
              </a:ext>
            </a:extLst>
          </p:cNvPr>
          <p:cNvSpPr txBox="1"/>
          <p:nvPr/>
        </p:nvSpPr>
        <p:spPr>
          <a:xfrm>
            <a:off x="950976" y="4159647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tr-TR" sz="1600" noProof="1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3B30D8CD-54F7-7FBE-BF11-4F0A184EA864}"/>
              </a:ext>
            </a:extLst>
          </p:cNvPr>
          <p:cNvSpPr txBox="1"/>
          <p:nvPr/>
        </p:nvSpPr>
        <p:spPr>
          <a:xfrm>
            <a:off x="1802020" y="4168792"/>
            <a:ext cx="5691325" cy="46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Yerellik · zanaat · doğaya saygı</a:t>
            </a:r>
            <a:endParaRPr lang="tr-TR" sz="1600" noProof="1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5DF5175-30C0-9E97-183F-154144C637CD}"/>
              </a:ext>
            </a:extLst>
          </p:cNvPr>
          <p:cNvSpPr/>
          <p:nvPr/>
        </p:nvSpPr>
        <p:spPr>
          <a:xfrm>
            <a:off x="713232" y="4416987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DCAA8209-0101-8338-6AC0-8B2423A2C346}"/>
              </a:ext>
            </a:extLst>
          </p:cNvPr>
          <p:cNvSpPr txBox="1"/>
          <p:nvPr/>
        </p:nvSpPr>
        <p:spPr>
          <a:xfrm>
            <a:off x="950976" y="4384565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tr-TR" sz="1600" noProof="1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7A74A117-5224-B344-79F6-4860984E4D59}"/>
              </a:ext>
            </a:extLst>
          </p:cNvPr>
          <p:cNvSpPr txBox="1"/>
          <p:nvPr/>
        </p:nvSpPr>
        <p:spPr>
          <a:xfrm>
            <a:off x="1594728" y="4381835"/>
            <a:ext cx="5691325" cy="46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Özenli · açık sözlü · malzemeye yakın</a:t>
            </a:r>
            <a:endParaRPr lang="tr-TR" sz="1600" noProof="1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E960E004-FC41-E892-A2D2-6F91CD57F040}"/>
              </a:ext>
            </a:extLst>
          </p:cNvPr>
          <p:cNvSpPr/>
          <p:nvPr/>
        </p:nvSpPr>
        <p:spPr>
          <a:xfrm>
            <a:off x="713232" y="4618155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4A8F0155-B489-1683-67E5-EB4931B0FBF2}"/>
              </a:ext>
            </a:extLst>
          </p:cNvPr>
          <p:cNvSpPr txBox="1"/>
          <p:nvPr/>
        </p:nvSpPr>
        <p:spPr>
          <a:xfrm>
            <a:off x="950976" y="4597608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konumu</a:t>
            </a:r>
            <a:endParaRPr lang="tr-TR" sz="1600" noProof="1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9370798E-7873-2D67-86E4-BA9A46AD774F}"/>
              </a:ext>
            </a:extLst>
          </p:cNvPr>
          <p:cNvSpPr txBox="1"/>
          <p:nvPr/>
        </p:nvSpPr>
        <p:spPr>
          <a:xfrm>
            <a:off x="2264010" y="4606753"/>
            <a:ext cx="5691325" cy="46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üretim ev ürünleri değil; imzalı zanaat parçaları</a:t>
            </a:r>
            <a:endParaRPr lang="tr-TR" sz="1600" noProof="1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330EEAAB-4477-6C4F-8459-3FE21062180A}"/>
              </a:ext>
            </a:extLst>
          </p:cNvPr>
          <p:cNvSpPr txBox="1"/>
          <p:nvPr/>
        </p:nvSpPr>
        <p:spPr>
          <a:xfrm>
            <a:off x="964692" y="5426414"/>
            <a:ext cx="9692640" cy="34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tr-TR" sz="16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Kentin yoğunluğu içinde yavaş ve anlamlı seçim yapmak isteyen, ürünü eline almadan karar vermeyen kullanıcı.</a:t>
            </a:r>
            <a:endParaRPr lang="tr-TR" sz="1600" noProof="1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A910B2DE-1C8B-D442-D7E5-0B316014AF7E}"/>
              </a:ext>
            </a:extLst>
          </p:cNvPr>
          <p:cNvSpPr/>
          <p:nvPr/>
        </p:nvSpPr>
        <p:spPr>
          <a:xfrm>
            <a:off x="713232" y="5240752"/>
            <a:ext cx="116626" cy="115723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sz="1600" noProof="1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117E184-F7BA-9B51-AB37-9E77CCC232C6}"/>
              </a:ext>
            </a:extLst>
          </p:cNvPr>
          <p:cNvSpPr txBox="1"/>
          <p:nvPr/>
        </p:nvSpPr>
        <p:spPr>
          <a:xfrm>
            <a:off x="950976" y="5215126"/>
            <a:ext cx="1982634" cy="3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</a:t>
            </a:r>
            <a:endParaRPr lang="tr-TR" sz="1600" noProof="1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A9F29DCC-D515-8BB9-5F75-EA8A6EF21650}"/>
              </a:ext>
            </a:extLst>
          </p:cNvPr>
          <p:cNvSpPr txBox="1"/>
          <p:nvPr/>
        </p:nvSpPr>
        <p:spPr>
          <a:xfrm>
            <a:off x="562896" y="7379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</p:spTree>
    <p:extLst>
      <p:ext uri="{BB962C8B-B14F-4D97-AF65-F5344CB8AC3E}">
        <p14:creationId xmlns:p14="http://schemas.microsoft.com/office/powerpoint/2010/main" val="359983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6D4E0-9B75-2BEE-EB09-0F7B1164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A35463-9CE5-948D-89D2-E9F220FE2E3B}"/>
              </a:ext>
            </a:extLst>
          </p:cNvPr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2"/>
              </a:lnSpc>
              <a:buNone/>
            </a:pPr>
            <a:r>
              <a:rPr lang="tr-TR" sz="900" b="1" noProof="1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tr-TR" sz="900" noProof="1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426C9F9A-EB9E-44C5-18AB-32905CBABFE6}"/>
              </a:ext>
            </a:extLst>
          </p:cNvPr>
          <p:cNvSpPr/>
          <p:nvPr/>
        </p:nvSpPr>
        <p:spPr>
          <a:xfrm>
            <a:off x="3472433" y="3231434"/>
            <a:ext cx="2529115" cy="36580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46CA078D-1677-09E6-EAE0-B15B9DCD0FF1}"/>
              </a:ext>
            </a:extLst>
          </p:cNvPr>
          <p:cNvSpPr txBox="1"/>
          <p:nvPr/>
        </p:nvSpPr>
        <p:spPr>
          <a:xfrm>
            <a:off x="3582162" y="3282973"/>
            <a:ext cx="2267708" cy="3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CESUR</a:t>
            </a:r>
            <a:endParaRPr lang="tr-TR" sz="1400" noProof="1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068C7EEB-BAD2-00FF-1FF1-75F3DCEEF428}"/>
              </a:ext>
            </a:extLst>
          </p:cNvPr>
          <p:cNvSpPr/>
          <p:nvPr/>
        </p:nvSpPr>
        <p:spPr>
          <a:xfrm>
            <a:off x="3472433" y="3637596"/>
            <a:ext cx="2529115" cy="36580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1FEA6B27-B137-496B-32A6-47893A07976F}"/>
              </a:ext>
            </a:extLst>
          </p:cNvPr>
          <p:cNvSpPr txBox="1"/>
          <p:nvPr/>
        </p:nvSpPr>
        <p:spPr>
          <a:xfrm>
            <a:off x="3582162" y="3689135"/>
            <a:ext cx="2267708" cy="3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tr-TR" sz="1400" noProof="1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38D22D17-F406-24E4-1F94-3021CF0840E5}"/>
              </a:ext>
            </a:extLst>
          </p:cNvPr>
          <p:cNvSpPr/>
          <p:nvPr/>
        </p:nvSpPr>
        <p:spPr>
          <a:xfrm>
            <a:off x="3472433" y="4041112"/>
            <a:ext cx="2529115" cy="36580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B29F3844-F8CA-92E0-9CAC-CAC4921FD977}"/>
              </a:ext>
            </a:extLst>
          </p:cNvPr>
          <p:cNvSpPr txBox="1"/>
          <p:nvPr/>
        </p:nvSpPr>
        <p:spPr>
          <a:xfrm>
            <a:off x="3582162" y="4092651"/>
            <a:ext cx="2267708" cy="3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SÜRDÜRÜLEBİLİR</a:t>
            </a:r>
            <a:endParaRPr lang="tr-TR" sz="1400" noProof="1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8041D8E1-4348-C6EF-BFEC-2A1E693F2711}"/>
              </a:ext>
            </a:extLst>
          </p:cNvPr>
          <p:cNvSpPr/>
          <p:nvPr/>
        </p:nvSpPr>
        <p:spPr>
          <a:xfrm>
            <a:off x="3472433" y="4444620"/>
            <a:ext cx="2529115" cy="36580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95CFAC50-FF69-2D23-460B-EBC4D9DC5B9F}"/>
              </a:ext>
            </a:extLst>
          </p:cNvPr>
          <p:cNvSpPr txBox="1"/>
          <p:nvPr/>
        </p:nvSpPr>
        <p:spPr>
          <a:xfrm>
            <a:off x="3582162" y="4496159"/>
            <a:ext cx="2267708" cy="3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tr-TR" sz="1400" noProof="1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F8D54CFE-6FFA-E332-273C-4176E3077B17}"/>
              </a:ext>
            </a:extLst>
          </p:cNvPr>
          <p:cNvSpPr/>
          <p:nvPr/>
        </p:nvSpPr>
        <p:spPr>
          <a:xfrm>
            <a:off x="3472433" y="4848122"/>
            <a:ext cx="2529115" cy="36580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0119EB37-9BCC-32A7-2FA0-1FFD9DA395D4}"/>
              </a:ext>
            </a:extLst>
          </p:cNvPr>
          <p:cNvSpPr txBox="1"/>
          <p:nvPr/>
        </p:nvSpPr>
        <p:spPr>
          <a:xfrm>
            <a:off x="3582162" y="4899661"/>
            <a:ext cx="2267708" cy="3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tr-TR" sz="1400" noProof="1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448D63B4-0338-0A79-C23A-06538803DFFB}"/>
              </a:ext>
            </a:extLst>
          </p:cNvPr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2"/>
              </a:lnSpc>
              <a:buNone/>
            </a:pPr>
            <a:r>
              <a:rPr lang="tr-TR" sz="900" b="1" noProof="1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tr-TR" sz="900" noProof="1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FF4B805-1030-F783-5860-4BD7B41C3E34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bir seramik markası. -- El yapımı seramik ev ve sofra ürünleri. </a:t>
            </a:r>
            <a:endParaRPr lang="tr-TR" sz="1400" noProof="1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E0CD051-55A3-8CAC-4A9D-9815EA150B42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78"/>
              </a:lnSpc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 (Vaka analizi)</a:t>
            </a:r>
            <a:endParaRPr lang="tr-TR" sz="2700" noProof="1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7B3EDB3-DD66-1237-C528-98C80FCAA57F}"/>
              </a:ext>
            </a:extLst>
          </p:cNvPr>
          <p:cNvSpPr/>
          <p:nvPr/>
        </p:nvSpPr>
        <p:spPr>
          <a:xfrm>
            <a:off x="6185119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C55B3AFF-64A0-BBC5-F459-423A9112E5B3}"/>
              </a:ext>
            </a:extLst>
          </p:cNvPr>
          <p:cNvSpPr/>
          <p:nvPr/>
        </p:nvSpPr>
        <p:spPr>
          <a:xfrm>
            <a:off x="8942833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269CD8E7-B672-6A3C-FB05-ACB7090F07CA}"/>
              </a:ext>
            </a:extLst>
          </p:cNvPr>
          <p:cNvSpPr/>
          <p:nvPr/>
        </p:nvSpPr>
        <p:spPr>
          <a:xfrm>
            <a:off x="3470947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902FE710-8C4C-653D-DA00-E27539347900}"/>
              </a:ext>
            </a:extLst>
          </p:cNvPr>
          <p:cNvSpPr/>
          <p:nvPr/>
        </p:nvSpPr>
        <p:spPr>
          <a:xfrm>
            <a:off x="713232" y="2151626"/>
            <a:ext cx="2530602" cy="102961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5648F689-34B7-6BDE-3179-82102930DE32}"/>
              </a:ext>
            </a:extLst>
          </p:cNvPr>
          <p:cNvSpPr txBox="1"/>
          <p:nvPr/>
        </p:nvSpPr>
        <p:spPr>
          <a:xfrm>
            <a:off x="859536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özelliği</a:t>
            </a:r>
            <a:endParaRPr lang="tr-TR" sz="1600" noProof="1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BF5B36B-303C-014A-1BB4-5273282645FA}"/>
              </a:ext>
            </a:extLst>
          </p:cNvPr>
          <p:cNvSpPr txBox="1"/>
          <p:nvPr/>
        </p:nvSpPr>
        <p:spPr>
          <a:xfrm>
            <a:off x="859536" y="2537503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 bulunan somut olgu</a:t>
            </a:r>
            <a:endParaRPr lang="tr-TR" sz="1400" noProof="1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72E04E38-A6FC-BA8E-D840-82392FFBB389}"/>
              </a:ext>
            </a:extLst>
          </p:cNvPr>
          <p:cNvSpPr txBox="1"/>
          <p:nvPr/>
        </p:nvSpPr>
        <p:spPr>
          <a:xfrm>
            <a:off x="3618738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tr-TR" sz="1600" noProof="1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FE6697D6-E69B-E8A2-49D2-C9D544CE1B7D}"/>
              </a:ext>
            </a:extLst>
          </p:cNvPr>
          <p:cNvSpPr txBox="1"/>
          <p:nvPr/>
        </p:nvSpPr>
        <p:spPr>
          <a:xfrm>
            <a:off x="3618738" y="253465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kavramsallaştırma</a:t>
            </a:r>
            <a:endParaRPr lang="tr-TR" sz="1400" noProof="1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1D24C992-CB00-32B9-74A8-B923CBAC1E2C}"/>
              </a:ext>
            </a:extLst>
          </p:cNvPr>
          <p:cNvSpPr txBox="1"/>
          <p:nvPr/>
        </p:nvSpPr>
        <p:spPr>
          <a:xfrm>
            <a:off x="6377940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ilke</a:t>
            </a:r>
            <a:endParaRPr lang="tr-TR" sz="1600" noProof="1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E255DD64-515E-19DA-E80E-7DA84DE75801}"/>
              </a:ext>
            </a:extLst>
          </p:cNvPr>
          <p:cNvSpPr txBox="1"/>
          <p:nvPr/>
        </p:nvSpPr>
        <p:spPr>
          <a:xfrm>
            <a:off x="6377940" y="253465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üretme</a:t>
            </a:r>
            <a:endParaRPr lang="tr-TR" sz="1400" noProof="1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D79B8C79-90B8-1621-7901-4D619B4BE2AC}"/>
              </a:ext>
            </a:extLst>
          </p:cNvPr>
          <p:cNvSpPr txBox="1"/>
          <p:nvPr/>
        </p:nvSpPr>
        <p:spPr>
          <a:xfrm>
            <a:off x="9137142" y="2321704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buNone/>
            </a:pPr>
            <a:r>
              <a:rPr lang="tr-TR" sz="1600" b="1" noProof="1">
                <a:latin typeface="Calibri" pitchFamily="34" charset="0"/>
                <a:cs typeface="Calibri" pitchFamily="34" charset="-120"/>
              </a:rPr>
              <a:t>Tasarım</a:t>
            </a: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 öğesi</a:t>
            </a:r>
            <a:endParaRPr lang="tr-TR" sz="1600" noProof="1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9C7A9682-9EAE-4676-26E9-C7D3E27DC318}"/>
              </a:ext>
            </a:extLst>
          </p:cNvPr>
          <p:cNvSpPr txBox="1"/>
          <p:nvPr/>
        </p:nvSpPr>
        <p:spPr>
          <a:xfrm>
            <a:off x="9137142" y="2531478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tr-TR" sz="1400" noProof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çizilebilir, ölçülebilir karar</a:t>
            </a:r>
            <a:endParaRPr lang="tr-TR" sz="1400" noProof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50B72E75-24DC-FA16-25D0-7F543D8BB630}"/>
              </a:ext>
            </a:extLst>
          </p:cNvPr>
          <p:cNvSpPr txBox="1"/>
          <p:nvPr/>
        </p:nvSpPr>
        <p:spPr>
          <a:xfrm>
            <a:off x="562896" y="7506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</p:spTree>
    <p:extLst>
      <p:ext uri="{BB962C8B-B14F-4D97-AF65-F5344CB8AC3E}">
        <p14:creationId xmlns:p14="http://schemas.microsoft.com/office/powerpoint/2010/main" val="1000439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ikdörtgen 43">
            <a:extLst>
              <a:ext uri="{FF2B5EF4-FFF2-40B4-BE49-F238E27FC236}">
                <a16:creationId xmlns:a16="http://schemas.microsoft.com/office/drawing/2014/main" id="{0F0F0101-BD4E-80AB-BEE6-03FF873C767D}"/>
              </a:ext>
            </a:extLst>
          </p:cNvPr>
          <p:cNvSpPr/>
          <p:nvPr/>
        </p:nvSpPr>
        <p:spPr>
          <a:xfrm>
            <a:off x="2872232" y="4718144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5BD30A28-4059-C1B4-5060-9FFA31CA8C0F}"/>
              </a:ext>
            </a:extLst>
          </p:cNvPr>
          <p:cNvSpPr/>
          <p:nvPr/>
        </p:nvSpPr>
        <p:spPr>
          <a:xfrm>
            <a:off x="5031232" y="4718144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6A3F5264-F056-2A64-584F-3F6D4E4CA25E}"/>
              </a:ext>
            </a:extLst>
          </p:cNvPr>
          <p:cNvSpPr/>
          <p:nvPr/>
        </p:nvSpPr>
        <p:spPr>
          <a:xfrm>
            <a:off x="7198699" y="4718144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B95B22BC-DC70-407F-CEDA-6864EF6A08B4}"/>
              </a:ext>
            </a:extLst>
          </p:cNvPr>
          <p:cNvSpPr/>
          <p:nvPr/>
        </p:nvSpPr>
        <p:spPr>
          <a:xfrm>
            <a:off x="9357699" y="4718144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0C06BC01-D595-D5F0-C8C4-BE3A299909B0}"/>
              </a:ext>
            </a:extLst>
          </p:cNvPr>
          <p:cNvSpPr/>
          <p:nvPr/>
        </p:nvSpPr>
        <p:spPr>
          <a:xfrm>
            <a:off x="713232" y="4718144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FBEC3DDD-EDAB-B635-5324-695705006EE3}"/>
              </a:ext>
            </a:extLst>
          </p:cNvPr>
          <p:cNvSpPr/>
          <p:nvPr/>
        </p:nvSpPr>
        <p:spPr>
          <a:xfrm>
            <a:off x="2872232" y="3799206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5357048C-FCEA-93CE-22F1-8E4212B2A87B}"/>
              </a:ext>
            </a:extLst>
          </p:cNvPr>
          <p:cNvSpPr/>
          <p:nvPr/>
        </p:nvSpPr>
        <p:spPr>
          <a:xfrm>
            <a:off x="5031232" y="3799206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FCE46B1A-0918-12B0-E4E2-3A1C8A806272}"/>
              </a:ext>
            </a:extLst>
          </p:cNvPr>
          <p:cNvSpPr/>
          <p:nvPr/>
        </p:nvSpPr>
        <p:spPr>
          <a:xfrm>
            <a:off x="7198699" y="3799206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6402E675-65E6-8F48-078B-5ABD7854BC59}"/>
              </a:ext>
            </a:extLst>
          </p:cNvPr>
          <p:cNvSpPr/>
          <p:nvPr/>
        </p:nvSpPr>
        <p:spPr>
          <a:xfrm>
            <a:off x="9357699" y="3799206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033630D5-9AD8-9DDC-44E5-AD16AA67AC82}"/>
              </a:ext>
            </a:extLst>
          </p:cNvPr>
          <p:cNvSpPr/>
          <p:nvPr/>
        </p:nvSpPr>
        <p:spPr>
          <a:xfrm>
            <a:off x="713232" y="3799206"/>
            <a:ext cx="2123237" cy="603503"/>
          </a:xfrm>
          <a:prstGeom prst="rect">
            <a:avLst/>
          </a:prstGeom>
          <a:solidFill>
            <a:srgbClr val="F7F4EF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13232" y="1977056"/>
            <a:ext cx="2123237" cy="942975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8" name="Text 6"/>
          <p:cNvSpPr txBox="1"/>
          <p:nvPr/>
        </p:nvSpPr>
        <p:spPr>
          <a:xfrm>
            <a:off x="822960" y="2156092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CESUR</a:t>
            </a:r>
            <a:endParaRPr lang="tr-TR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822960" y="2421887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karakterli · görünür · güçlü</a:t>
            </a:r>
            <a:endParaRPr lang="tr-TR" sz="1400" noProof="1"/>
          </a:p>
        </p:txBody>
      </p:sp>
      <p:sp>
        <p:nvSpPr>
          <p:cNvPr id="10" name="Shape 8"/>
          <p:cNvSpPr/>
          <p:nvPr/>
        </p:nvSpPr>
        <p:spPr>
          <a:xfrm>
            <a:off x="2873045" y="1977056"/>
            <a:ext cx="2123237" cy="942975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1" name="Text 9"/>
          <p:cNvSpPr txBox="1"/>
          <p:nvPr/>
        </p:nvSpPr>
        <p:spPr>
          <a:xfrm>
            <a:off x="2982773" y="2156092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tr-TR" sz="1600" noProof="1"/>
          </a:p>
        </p:txBody>
      </p:sp>
      <p:sp>
        <p:nvSpPr>
          <p:cNvPr id="12" name="Text 10"/>
          <p:cNvSpPr txBox="1"/>
          <p:nvPr/>
        </p:nvSpPr>
        <p:spPr>
          <a:xfrm>
            <a:off x="2982773" y="2421887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malzemeye yakın · sıcak · yalın</a:t>
            </a:r>
            <a:endParaRPr lang="tr-TR" sz="1400" noProof="1"/>
          </a:p>
        </p:txBody>
      </p:sp>
      <p:sp>
        <p:nvSpPr>
          <p:cNvPr id="13" name="Shape 11"/>
          <p:cNvSpPr/>
          <p:nvPr/>
        </p:nvSpPr>
        <p:spPr>
          <a:xfrm>
            <a:off x="5032858" y="1977056"/>
            <a:ext cx="2123237" cy="942975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4" name="Text 12"/>
          <p:cNvSpPr txBox="1"/>
          <p:nvPr/>
        </p:nvSpPr>
        <p:spPr>
          <a:xfrm>
            <a:off x="5142586" y="2156092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SÜRDÜRÜLEBİLİR</a:t>
            </a:r>
            <a:endParaRPr lang="tr-TR" sz="1600" noProof="1"/>
          </a:p>
        </p:txBody>
      </p:sp>
      <p:sp>
        <p:nvSpPr>
          <p:cNvPr id="15" name="Text 13"/>
          <p:cNvSpPr txBox="1"/>
          <p:nvPr/>
        </p:nvSpPr>
        <p:spPr>
          <a:xfrm>
            <a:off x="5142586" y="2421887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tr-TR" sz="1400" noProof="1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ömürlü · az atık · esnek</a:t>
            </a:r>
            <a:endParaRPr lang="tr-TR" sz="1400" noProof="1"/>
          </a:p>
        </p:txBody>
      </p:sp>
      <p:sp>
        <p:nvSpPr>
          <p:cNvPr id="16" name="Shape 14"/>
          <p:cNvSpPr/>
          <p:nvPr/>
        </p:nvSpPr>
        <p:spPr>
          <a:xfrm>
            <a:off x="7192670" y="1977056"/>
            <a:ext cx="2123237" cy="942975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7" name="Text 15"/>
          <p:cNvSpPr txBox="1"/>
          <p:nvPr/>
        </p:nvSpPr>
        <p:spPr>
          <a:xfrm>
            <a:off x="7302398" y="2156092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tr-TR" sz="1600" noProof="1"/>
          </a:p>
        </p:txBody>
      </p:sp>
      <p:sp>
        <p:nvSpPr>
          <p:cNvPr id="18" name="Text 16"/>
          <p:cNvSpPr txBox="1"/>
          <p:nvPr/>
        </p:nvSpPr>
        <p:spPr>
          <a:xfrm>
            <a:off x="7302398" y="2421887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tr-TR" sz="1400" noProof="1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tek · elde üretilmiş</a:t>
            </a:r>
            <a:endParaRPr lang="tr-TR" sz="1400" noProof="1"/>
          </a:p>
        </p:txBody>
      </p:sp>
      <p:sp>
        <p:nvSpPr>
          <p:cNvPr id="19" name="Shape 17"/>
          <p:cNvSpPr/>
          <p:nvPr/>
        </p:nvSpPr>
        <p:spPr>
          <a:xfrm>
            <a:off x="9352483" y="1977056"/>
            <a:ext cx="2123237" cy="942975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0" name="Text 18"/>
          <p:cNvSpPr txBox="1"/>
          <p:nvPr/>
        </p:nvSpPr>
        <p:spPr>
          <a:xfrm>
            <a:off x="9462211" y="2156092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tr-TR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tr-TR" sz="1600" noProof="1"/>
          </a:p>
        </p:txBody>
      </p:sp>
      <p:sp>
        <p:nvSpPr>
          <p:cNvPr id="21" name="Text 19"/>
          <p:cNvSpPr txBox="1"/>
          <p:nvPr/>
        </p:nvSpPr>
        <p:spPr>
          <a:xfrm>
            <a:off x="9462211" y="2421887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tr-TR" sz="1400" noProof="1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gizlenmiyor · süreç ortada</a:t>
            </a:r>
            <a:endParaRPr lang="tr-TR" sz="1400" noProof="1"/>
          </a:p>
        </p:txBody>
      </p:sp>
      <p:sp>
        <p:nvSpPr>
          <p:cNvPr id="26" name="Text 24"/>
          <p:cNvSpPr txBox="1"/>
          <p:nvPr/>
        </p:nvSpPr>
        <p:spPr>
          <a:xfrm>
            <a:off x="822960" y="379920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sz="1400" b="1" noProof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vurgu ve hiyerarşi</a:t>
            </a:r>
            <a:endParaRPr lang="tr-TR" sz="1400" noProof="1"/>
          </a:p>
        </p:txBody>
      </p:sp>
      <p:sp>
        <p:nvSpPr>
          <p:cNvPr id="28" name="Text 26"/>
          <p:cNvSpPr txBox="1"/>
          <p:nvPr/>
        </p:nvSpPr>
        <p:spPr>
          <a:xfrm>
            <a:off x="2982773" y="379920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sz="1400" b="1" noProof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ve ışık</a:t>
            </a:r>
            <a:endParaRPr lang="tr-TR" sz="1400" noProof="1"/>
          </a:p>
        </p:txBody>
      </p:sp>
      <p:sp>
        <p:nvSpPr>
          <p:cNvPr id="30" name="Text 28"/>
          <p:cNvSpPr txBox="1"/>
          <p:nvPr/>
        </p:nvSpPr>
        <p:spPr>
          <a:xfrm>
            <a:off x="5142586" y="379920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sz="1400" b="1" noProof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ve malzeme</a:t>
            </a:r>
            <a:endParaRPr lang="tr-TR" sz="1400" noProof="1"/>
          </a:p>
        </p:txBody>
      </p:sp>
      <p:sp>
        <p:nvSpPr>
          <p:cNvPr id="32" name="Text 30"/>
          <p:cNvSpPr txBox="1"/>
          <p:nvPr/>
        </p:nvSpPr>
        <p:spPr>
          <a:xfrm>
            <a:off x="7302398" y="379920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lnSpc>
                <a:spcPts val="1400"/>
              </a:lnSpc>
              <a:buNone/>
              <a:defRPr sz="1150" b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tr-TR" sz="1400" noProof="1"/>
              <a:t>yoğunluk ve aralık</a:t>
            </a:r>
          </a:p>
        </p:txBody>
      </p:sp>
      <p:sp>
        <p:nvSpPr>
          <p:cNvPr id="34" name="Text 32"/>
          <p:cNvSpPr txBox="1"/>
          <p:nvPr/>
        </p:nvSpPr>
        <p:spPr>
          <a:xfrm>
            <a:off x="9462211" y="379920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lnSpc>
                <a:spcPts val="1400"/>
              </a:lnSpc>
              <a:buNone/>
              <a:defRPr sz="1150" b="1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tr-TR" sz="1400" noProof="1"/>
              <a:t>görüş hattı ve sınır</a:t>
            </a:r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5AC111C3-47AE-CEDE-C40D-5C85412647EE}"/>
              </a:ext>
            </a:extLst>
          </p:cNvPr>
          <p:cNvSpPr txBox="1"/>
          <p:nvPr/>
        </p:nvSpPr>
        <p:spPr>
          <a:xfrm>
            <a:off x="699785" y="3490865"/>
            <a:ext cx="215378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Mekansal İlke</a:t>
            </a:r>
            <a:endParaRPr lang="tr-TR" noProof="1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952BBCFD-ACD2-F4B7-E88E-FE78B00F2ECE}"/>
              </a:ext>
            </a:extLst>
          </p:cNvPr>
          <p:cNvSpPr txBox="1"/>
          <p:nvPr/>
        </p:nvSpPr>
        <p:spPr>
          <a:xfrm>
            <a:off x="687179" y="4391999"/>
            <a:ext cx="2213410" cy="33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Tasarım Öğesi</a:t>
            </a:r>
            <a:endParaRPr lang="tr-TR" noProof="1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15AA882-1919-DFFC-6CE7-3B1E35C6A370}"/>
              </a:ext>
            </a:extLst>
          </p:cNvPr>
          <p:cNvSpPr txBox="1"/>
          <p:nvPr/>
        </p:nvSpPr>
        <p:spPr>
          <a:xfrm>
            <a:off x="7192669" y="4782656"/>
            <a:ext cx="2123238" cy="4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kaideler · nokta aydınlatma · geniş aralık</a:t>
            </a:r>
            <a:endParaRPr lang="tr-TR" sz="1400" noProof="1"/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952521E4-8F76-15A3-B6E2-E94A36D1EA49}"/>
              </a:ext>
            </a:extLst>
          </p:cNvPr>
          <p:cNvSpPr txBox="1"/>
          <p:nvPr/>
        </p:nvSpPr>
        <p:spPr>
          <a:xfrm>
            <a:off x="9352482" y="4782656"/>
            <a:ext cx="2123237" cy="444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camlı atölye duvarı · açık kuruma rafı</a:t>
            </a:r>
            <a:endParaRPr lang="tr-TR" sz="1400" noProof="1"/>
          </a:p>
        </p:txBody>
      </p:sp>
      <p:sp>
        <p:nvSpPr>
          <p:cNvPr id="4" name="Text 36">
            <a:extLst>
              <a:ext uri="{FF2B5EF4-FFF2-40B4-BE49-F238E27FC236}">
                <a16:creationId xmlns:a16="http://schemas.microsoft.com/office/drawing/2014/main" id="{06C0AB5C-FA4C-51A9-AC86-B80BB6FD89C0}"/>
              </a:ext>
            </a:extLst>
          </p:cNvPr>
          <p:cNvSpPr txBox="1"/>
          <p:nvPr/>
        </p:nvSpPr>
        <p:spPr>
          <a:xfrm>
            <a:off x="822960" y="4623186"/>
            <a:ext cx="199274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tr-TR" sz="1400" dirty="0"/>
              <a:t>koyu vurgu duvarı · ölçek atlayan tek büyük parça</a:t>
            </a:r>
            <a:endParaRPr lang="tr-TR" sz="1400" noProof="1"/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DA732738-BB71-745F-21EF-46EA5842C19B}"/>
              </a:ext>
            </a:extLst>
          </p:cNvPr>
          <p:cNvSpPr txBox="1"/>
          <p:nvPr/>
        </p:nvSpPr>
        <p:spPr>
          <a:xfrm>
            <a:off x="2929552" y="4623186"/>
            <a:ext cx="199274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tr-TR" sz="1400" dirty="0"/>
              <a:t>ham sıva ve masif ahşap · dokunulabilir açık raf</a:t>
            </a:r>
            <a:endParaRPr lang="tr-TR" sz="1400" noProof="1"/>
          </a:p>
        </p:txBody>
      </p:sp>
      <p:sp>
        <p:nvSpPr>
          <p:cNvPr id="23" name="Text 36">
            <a:extLst>
              <a:ext uri="{FF2B5EF4-FFF2-40B4-BE49-F238E27FC236}">
                <a16:creationId xmlns:a16="http://schemas.microsoft.com/office/drawing/2014/main" id="{76D54131-9BAC-80C2-E5EF-6A108E465A5E}"/>
              </a:ext>
            </a:extLst>
          </p:cNvPr>
          <p:cNvSpPr txBox="1"/>
          <p:nvPr/>
        </p:nvSpPr>
        <p:spPr>
          <a:xfrm>
            <a:off x="5105593" y="4623186"/>
            <a:ext cx="199274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tr-TR" sz="1400" dirty="0"/>
              <a:t>sökülebilir modüler raf · biyoloji bazlı tasarım</a:t>
            </a:r>
            <a:endParaRPr lang="tr-TR" sz="1400" noProof="1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A6E7A16-08D5-F715-7C42-6ABBCC1F54B8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bir seramik markası. -- El yapımı seramik ev ve sofra ürünleri. </a:t>
            </a:r>
            <a:endParaRPr lang="tr-TR" sz="1400" noProof="1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89E61DD6-2EB6-03B9-ABAC-AF6178CC52BB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78"/>
              </a:lnSpc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 (Vaka analizi)</a:t>
            </a:r>
            <a:endParaRPr lang="tr-TR" sz="2700" noProof="1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4E566C7-0F29-5E49-6F1A-98D688F367A6}"/>
              </a:ext>
            </a:extLst>
          </p:cNvPr>
          <p:cNvSpPr txBox="1"/>
          <p:nvPr/>
        </p:nvSpPr>
        <p:spPr>
          <a:xfrm>
            <a:off x="728361" y="1662067"/>
            <a:ext cx="215378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b="1" noProof="1">
                <a:solidFill>
                  <a:srgbClr val="A8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Kelimeler</a:t>
            </a:r>
            <a:endParaRPr lang="tr-TR" noProof="1">
              <a:solidFill>
                <a:srgbClr val="A85C42"/>
              </a:solidFill>
            </a:endParaRPr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B6CE6575-8EE0-3D52-162F-2C3EAC6F391F}"/>
              </a:ext>
            </a:extLst>
          </p:cNvPr>
          <p:cNvSpPr txBox="1"/>
          <p:nvPr/>
        </p:nvSpPr>
        <p:spPr>
          <a:xfrm>
            <a:off x="562896" y="7506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 txBox="1"/>
          <p:nvPr/>
        </p:nvSpPr>
        <p:spPr>
          <a:xfrm>
            <a:off x="752040" y="26446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Çekim</a:t>
            </a:r>
            <a:endParaRPr lang="tr-TR" sz="1600" noProof="1"/>
          </a:p>
        </p:txBody>
      </p:sp>
      <p:sp>
        <p:nvSpPr>
          <p:cNvPr id="14" name="Text 12"/>
          <p:cNvSpPr txBox="1"/>
          <p:nvPr/>
        </p:nvSpPr>
        <p:spPr>
          <a:xfrm>
            <a:off x="1434049" y="26334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Vitrinde tek bir parça; arkasında çalışan çark görünüyor</a:t>
            </a:r>
            <a:endParaRPr lang="tr-TR" sz="1400" noProof="1"/>
          </a:p>
        </p:txBody>
      </p:sp>
      <p:sp>
        <p:nvSpPr>
          <p:cNvPr id="16" name="Text 14"/>
          <p:cNvSpPr txBox="1"/>
          <p:nvPr/>
        </p:nvSpPr>
        <p:spPr>
          <a:xfrm>
            <a:off x="8595360" y="26334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tr-TR" sz="1400" noProof="1"/>
          </a:p>
        </p:txBody>
      </p:sp>
      <p:sp>
        <p:nvSpPr>
          <p:cNvPr id="18" name="Text 16"/>
          <p:cNvSpPr txBox="1"/>
          <p:nvPr/>
        </p:nvSpPr>
        <p:spPr>
          <a:xfrm>
            <a:off x="752040" y="31018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tr-TR" sz="1600" noProof="1"/>
          </a:p>
        </p:txBody>
      </p:sp>
      <p:sp>
        <p:nvSpPr>
          <p:cNvPr id="20" name="Text 18"/>
          <p:cNvSpPr txBox="1"/>
          <p:nvPr/>
        </p:nvSpPr>
        <p:spPr>
          <a:xfrm>
            <a:off x="1259196" y="30906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yüzey, mat ışık ve çamurun kokusu karşılıyor</a:t>
            </a:r>
            <a:endParaRPr lang="tr-TR" sz="1400" noProof="1"/>
          </a:p>
        </p:txBody>
      </p:sp>
      <p:sp>
        <p:nvSpPr>
          <p:cNvPr id="22" name="Text 20"/>
          <p:cNvSpPr txBox="1"/>
          <p:nvPr/>
        </p:nvSpPr>
        <p:spPr>
          <a:xfrm>
            <a:off x="8595360" y="30906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tr-TR" sz="1400" noProof="1"/>
          </a:p>
        </p:txBody>
      </p:sp>
      <p:sp>
        <p:nvSpPr>
          <p:cNvPr id="24" name="Text 22"/>
          <p:cNvSpPr txBox="1"/>
          <p:nvPr/>
        </p:nvSpPr>
        <p:spPr>
          <a:xfrm>
            <a:off x="752040" y="35590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Yönlenme</a:t>
            </a:r>
            <a:endParaRPr lang="tr-TR" sz="1600" noProof="1"/>
          </a:p>
        </p:txBody>
      </p:sp>
      <p:sp>
        <p:nvSpPr>
          <p:cNvPr id="26" name="Text 24"/>
          <p:cNvSpPr txBox="1"/>
          <p:nvPr/>
        </p:nvSpPr>
        <p:spPr>
          <a:xfrm>
            <a:off x="1673352" y="35478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görüş hattı; rota atölyeden tartıma doğru akıyor</a:t>
            </a:r>
            <a:endParaRPr lang="tr-TR" sz="1400" noProof="1"/>
          </a:p>
        </p:txBody>
      </p:sp>
      <p:sp>
        <p:nvSpPr>
          <p:cNvPr id="28" name="Text 26"/>
          <p:cNvSpPr txBox="1"/>
          <p:nvPr/>
        </p:nvSpPr>
        <p:spPr>
          <a:xfrm>
            <a:off x="8595360" y="35478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tr-TR" sz="1400" noProof="1"/>
          </a:p>
        </p:txBody>
      </p:sp>
      <p:sp>
        <p:nvSpPr>
          <p:cNvPr id="30" name="Text 28"/>
          <p:cNvSpPr txBox="1"/>
          <p:nvPr/>
        </p:nvSpPr>
        <p:spPr>
          <a:xfrm>
            <a:off x="752040" y="40162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tr-TR" sz="1600" noProof="1"/>
          </a:p>
        </p:txBody>
      </p:sp>
      <p:sp>
        <p:nvSpPr>
          <p:cNvPr id="32" name="Text 30"/>
          <p:cNvSpPr txBox="1"/>
          <p:nvPr/>
        </p:nvSpPr>
        <p:spPr>
          <a:xfrm>
            <a:off x="1348406" y="40050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parça kendi kaidesinde, aralarında geniş boşluk</a:t>
            </a:r>
            <a:endParaRPr lang="tr-TR" sz="1400" noProof="1"/>
          </a:p>
        </p:txBody>
      </p:sp>
      <p:sp>
        <p:nvSpPr>
          <p:cNvPr id="34" name="Text 32"/>
          <p:cNvSpPr txBox="1"/>
          <p:nvPr/>
        </p:nvSpPr>
        <p:spPr>
          <a:xfrm>
            <a:off x="8595360" y="40050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tekillik</a:t>
            </a:r>
            <a:endParaRPr lang="tr-TR" sz="1400" noProof="1"/>
          </a:p>
        </p:txBody>
      </p:sp>
      <p:sp>
        <p:nvSpPr>
          <p:cNvPr id="36" name="Text 34"/>
          <p:cNvSpPr txBox="1"/>
          <p:nvPr/>
        </p:nvSpPr>
        <p:spPr>
          <a:xfrm>
            <a:off x="752040" y="44734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tr-TR" sz="1600" noProof="1"/>
          </a:p>
        </p:txBody>
      </p:sp>
      <p:sp>
        <p:nvSpPr>
          <p:cNvPr id="38" name="Text 36"/>
          <p:cNvSpPr txBox="1"/>
          <p:nvPr/>
        </p:nvSpPr>
        <p:spPr>
          <a:xfrm>
            <a:off x="1673352" y="44622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 serbest; numune ve üretim anlatısı tezgâhta</a:t>
            </a:r>
            <a:endParaRPr lang="tr-TR" sz="1400" noProof="1"/>
          </a:p>
        </p:txBody>
      </p:sp>
      <p:sp>
        <p:nvSpPr>
          <p:cNvPr id="40" name="Text 38"/>
          <p:cNvSpPr txBox="1"/>
          <p:nvPr/>
        </p:nvSpPr>
        <p:spPr>
          <a:xfrm>
            <a:off x="8595360" y="44622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tekillik</a:t>
            </a:r>
            <a:endParaRPr lang="tr-TR" sz="1400" noProof="1"/>
          </a:p>
        </p:txBody>
      </p:sp>
      <p:sp>
        <p:nvSpPr>
          <p:cNvPr id="42" name="Text 40"/>
          <p:cNvSpPr txBox="1"/>
          <p:nvPr/>
        </p:nvSpPr>
        <p:spPr>
          <a:xfrm>
            <a:off x="752040" y="49306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</a:t>
            </a:r>
            <a:endParaRPr lang="tr-TR" sz="1600" noProof="1"/>
          </a:p>
        </p:txBody>
      </p:sp>
      <p:sp>
        <p:nvSpPr>
          <p:cNvPr id="44" name="Text 42"/>
          <p:cNvSpPr txBox="1"/>
          <p:nvPr/>
        </p:nvSpPr>
        <p:spPr>
          <a:xfrm>
            <a:off x="1792861" y="49194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Ambalajın kendisi zanaatın parçası; paketleme görünür</a:t>
            </a:r>
            <a:endParaRPr lang="tr-TR" sz="1400" noProof="1"/>
          </a:p>
        </p:txBody>
      </p:sp>
      <p:sp>
        <p:nvSpPr>
          <p:cNvPr id="46" name="Text 44"/>
          <p:cNvSpPr txBox="1"/>
          <p:nvPr/>
        </p:nvSpPr>
        <p:spPr>
          <a:xfrm>
            <a:off x="8595360" y="49194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cs typeface="Calibri" pitchFamily="34" charset="-120"/>
              </a:rPr>
              <a:t>sürdürülebilirlik</a:t>
            </a:r>
            <a:endParaRPr lang="tr-TR" sz="1400" noProof="1"/>
          </a:p>
        </p:txBody>
      </p:sp>
      <p:sp>
        <p:nvSpPr>
          <p:cNvPr id="48" name="Text 46"/>
          <p:cNvSpPr txBox="1"/>
          <p:nvPr/>
        </p:nvSpPr>
        <p:spPr>
          <a:xfrm>
            <a:off x="752040" y="5387823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Ayrılış</a:t>
            </a:r>
            <a:endParaRPr lang="tr-TR" sz="1600" noProof="1"/>
          </a:p>
        </p:txBody>
      </p:sp>
      <p:sp>
        <p:nvSpPr>
          <p:cNvPr id="50" name="Text 48"/>
          <p:cNvSpPr txBox="1"/>
          <p:nvPr/>
        </p:nvSpPr>
        <p:spPr>
          <a:xfrm>
            <a:off x="1390112" y="53766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2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Parçanın kim tarafından yapıldığı yazan kart</a:t>
            </a:r>
            <a:endParaRPr lang="tr-TR" sz="1400" noProof="1"/>
          </a:p>
        </p:txBody>
      </p:sp>
      <p:sp>
        <p:nvSpPr>
          <p:cNvPr id="52" name="Text 50"/>
          <p:cNvSpPr txBox="1"/>
          <p:nvPr/>
        </p:nvSpPr>
        <p:spPr>
          <a:xfrm>
            <a:off x="8595360" y="53766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8"/>
              </a:lnSpc>
              <a:buNone/>
            </a:pPr>
            <a:r>
              <a:rPr lang="tr-TR" sz="1400" kern="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tekillik</a:t>
            </a:r>
            <a:endParaRPr lang="tr-TR" sz="1400" noProof="1"/>
          </a:p>
        </p:txBody>
      </p:sp>
      <p:cxnSp>
        <p:nvCxnSpPr>
          <p:cNvPr id="54" name="Düz Bağlayıcı 53">
            <a:extLst>
              <a:ext uri="{FF2B5EF4-FFF2-40B4-BE49-F238E27FC236}">
                <a16:creationId xmlns:a16="http://schemas.microsoft.com/office/drawing/2014/main" id="{13F998FD-8C40-A339-9FC3-C7467A212941}"/>
              </a:ext>
            </a:extLst>
          </p:cNvPr>
          <p:cNvCxnSpPr>
            <a:cxnSpLocks/>
          </p:cNvCxnSpPr>
          <p:nvPr/>
        </p:nvCxnSpPr>
        <p:spPr>
          <a:xfrm flipV="1">
            <a:off x="495049" y="759520"/>
            <a:ext cx="0" cy="4900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2FC8A2B-C29E-B9B7-93EE-E69D04B9FCEE}"/>
              </a:ext>
            </a:extLst>
          </p:cNvPr>
          <p:cNvSpPr/>
          <p:nvPr/>
        </p:nvSpPr>
        <p:spPr>
          <a:xfrm>
            <a:off x="404882" y="2761214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D977550-85A4-335C-1B34-BC6A57910E5C}"/>
              </a:ext>
            </a:extLst>
          </p:cNvPr>
          <p:cNvSpPr/>
          <p:nvPr/>
        </p:nvSpPr>
        <p:spPr>
          <a:xfrm>
            <a:off x="404882" y="3221567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658DAA7-9469-B455-0FDF-B4370C5593E9}"/>
              </a:ext>
            </a:extLst>
          </p:cNvPr>
          <p:cNvSpPr/>
          <p:nvPr/>
        </p:nvSpPr>
        <p:spPr>
          <a:xfrm>
            <a:off x="404882" y="3669308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46B7F70-F82F-FED9-265F-BA235AD2B475}"/>
              </a:ext>
            </a:extLst>
          </p:cNvPr>
          <p:cNvSpPr/>
          <p:nvPr/>
        </p:nvSpPr>
        <p:spPr>
          <a:xfrm>
            <a:off x="404882" y="4129661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EB44F73-E4AE-5BB2-1FA5-E607EA9E04DB}"/>
              </a:ext>
            </a:extLst>
          </p:cNvPr>
          <p:cNvSpPr/>
          <p:nvPr/>
        </p:nvSpPr>
        <p:spPr>
          <a:xfrm>
            <a:off x="404882" y="4596321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3961888-C6FA-F146-0C80-6B855910CC0F}"/>
              </a:ext>
            </a:extLst>
          </p:cNvPr>
          <p:cNvSpPr/>
          <p:nvPr/>
        </p:nvSpPr>
        <p:spPr>
          <a:xfrm>
            <a:off x="404882" y="5056674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64CD8FE-AD44-2553-D295-627284DA092A}"/>
              </a:ext>
            </a:extLst>
          </p:cNvPr>
          <p:cNvSpPr/>
          <p:nvPr/>
        </p:nvSpPr>
        <p:spPr>
          <a:xfrm>
            <a:off x="404882" y="5517027"/>
            <a:ext cx="180334" cy="1803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C6055437-5A1D-B45C-BA46-315AC6D85318}"/>
              </a:ext>
            </a:extLst>
          </p:cNvPr>
          <p:cNvSpPr txBox="1"/>
          <p:nvPr/>
        </p:nvSpPr>
        <p:spPr>
          <a:xfrm>
            <a:off x="752040" y="21651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Aşama</a:t>
            </a:r>
            <a:endParaRPr lang="tr-TR" sz="1600" noProof="1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FFC171F2-C4B3-1653-4CA2-DE2B7F49F1BD}"/>
              </a:ext>
            </a:extLst>
          </p:cNvPr>
          <p:cNvSpPr txBox="1"/>
          <p:nvPr/>
        </p:nvSpPr>
        <p:spPr>
          <a:xfrm>
            <a:off x="1443416" y="21651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Mekansal Karar</a:t>
            </a:r>
            <a:endParaRPr lang="tr-TR" sz="1600" noProof="1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75A92251-2B4D-EB09-3B60-783E931C07B3}"/>
              </a:ext>
            </a:extLst>
          </p:cNvPr>
          <p:cNvSpPr txBox="1"/>
          <p:nvPr/>
        </p:nvSpPr>
        <p:spPr>
          <a:xfrm>
            <a:off x="8580197" y="216512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6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tr-TR" sz="1600" noProof="1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DDE2E79B-9A3C-C409-A74B-EA5D048BBB74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bir seramik markası. -- El yapımı seramik ev ve sofra ürünleri. </a:t>
            </a:r>
            <a:endParaRPr lang="tr-TR" sz="1400" noProof="1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A70397BD-0C7A-F7D2-6ACF-FD348BF7E87E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78"/>
              </a:lnSpc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 (Vaka analizi)</a:t>
            </a:r>
            <a:endParaRPr lang="tr-TR" sz="2700" noProof="1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EBD7A606-BF86-C017-5539-5F76EF3ED688}"/>
              </a:ext>
            </a:extLst>
          </p:cNvPr>
          <p:cNvSpPr txBox="1"/>
          <p:nvPr/>
        </p:nvSpPr>
        <p:spPr>
          <a:xfrm>
            <a:off x="562896" y="7506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2125A2CD-98CE-2AB1-B522-3AD942E74529}"/>
              </a:ext>
            </a:extLst>
          </p:cNvPr>
          <p:cNvSpPr txBox="1"/>
          <p:nvPr/>
        </p:nvSpPr>
        <p:spPr>
          <a:xfrm>
            <a:off x="178583" y="2769162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tr-TR" sz="1400" noProof="1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587C1886-4784-BF17-5CAE-CA6DC6863449}"/>
              </a:ext>
            </a:extLst>
          </p:cNvPr>
          <p:cNvSpPr txBox="1"/>
          <p:nvPr/>
        </p:nvSpPr>
        <p:spPr>
          <a:xfrm>
            <a:off x="178583" y="3219638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tr-TR" sz="1400" noProof="1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4EB9804C-F12E-5A22-2BE6-1A0200AEAA40}"/>
              </a:ext>
            </a:extLst>
          </p:cNvPr>
          <p:cNvSpPr txBox="1"/>
          <p:nvPr/>
        </p:nvSpPr>
        <p:spPr>
          <a:xfrm>
            <a:off x="178583" y="3683562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tr-TR" sz="1400" noProof="1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6FC1387-B63A-D810-EC50-B3A3775BD14B}"/>
              </a:ext>
            </a:extLst>
          </p:cNvPr>
          <p:cNvSpPr txBox="1"/>
          <p:nvPr/>
        </p:nvSpPr>
        <p:spPr>
          <a:xfrm>
            <a:off x="178583" y="4134039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400" noProof="1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C5FE6F06-CB6C-547B-2401-C1B18783D34F}"/>
              </a:ext>
            </a:extLst>
          </p:cNvPr>
          <p:cNvSpPr txBox="1"/>
          <p:nvPr/>
        </p:nvSpPr>
        <p:spPr>
          <a:xfrm>
            <a:off x="178583" y="4591239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tr-TR" sz="1400" noProof="1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4DE167EA-3D0A-69AA-47D7-1982AB89B862}"/>
              </a:ext>
            </a:extLst>
          </p:cNvPr>
          <p:cNvSpPr txBox="1"/>
          <p:nvPr/>
        </p:nvSpPr>
        <p:spPr>
          <a:xfrm>
            <a:off x="178583" y="504171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tr-TR" sz="1400" noProof="1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EA0BC256-3B42-9DE3-1273-07460EFECAC6}"/>
              </a:ext>
            </a:extLst>
          </p:cNvPr>
          <p:cNvSpPr txBox="1"/>
          <p:nvPr/>
        </p:nvSpPr>
        <p:spPr>
          <a:xfrm>
            <a:off x="178583" y="5512363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tr-TR" sz="14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1755648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Çekim</a:t>
            </a:r>
            <a:endParaRPr lang="tr-TR" sz="1400" b="1" noProof="1"/>
          </a:p>
        </p:txBody>
      </p:sp>
      <p:sp>
        <p:nvSpPr>
          <p:cNvPr id="8" name="Text 6"/>
          <p:cNvSpPr txBox="1"/>
          <p:nvPr/>
        </p:nvSpPr>
        <p:spPr>
          <a:xfrm>
            <a:off x="2591671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tr-TR" sz="1400" b="1" noProof="1"/>
          </a:p>
        </p:txBody>
      </p:sp>
      <p:sp>
        <p:nvSpPr>
          <p:cNvPr id="9" name="Text 7"/>
          <p:cNvSpPr txBox="1"/>
          <p:nvPr/>
        </p:nvSpPr>
        <p:spPr>
          <a:xfrm>
            <a:off x="3427694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Yönelme</a:t>
            </a:r>
            <a:endParaRPr lang="tr-TR" sz="1400" b="1" noProof="1"/>
          </a:p>
        </p:txBody>
      </p:sp>
      <p:sp>
        <p:nvSpPr>
          <p:cNvPr id="10" name="Text 8"/>
          <p:cNvSpPr txBox="1"/>
          <p:nvPr/>
        </p:nvSpPr>
        <p:spPr>
          <a:xfrm>
            <a:off x="4263717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Gezinme</a:t>
            </a:r>
            <a:endParaRPr lang="tr-TR" sz="1400" b="1" noProof="1"/>
          </a:p>
        </p:txBody>
      </p:sp>
      <p:sp>
        <p:nvSpPr>
          <p:cNvPr id="11" name="Text 9"/>
          <p:cNvSpPr txBox="1"/>
          <p:nvPr/>
        </p:nvSpPr>
        <p:spPr>
          <a:xfrm>
            <a:off x="5099739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tr-TR" sz="1400" b="1" noProof="1"/>
          </a:p>
        </p:txBody>
      </p:sp>
      <p:sp>
        <p:nvSpPr>
          <p:cNvPr id="12" name="Text 10"/>
          <p:cNvSpPr txBox="1"/>
          <p:nvPr/>
        </p:nvSpPr>
        <p:spPr>
          <a:xfrm>
            <a:off x="5935762" y="209763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</a:t>
            </a:r>
            <a:endParaRPr lang="tr-TR" sz="1400" b="1" noProof="1"/>
          </a:p>
        </p:txBody>
      </p:sp>
      <p:sp>
        <p:nvSpPr>
          <p:cNvPr id="13" name="Text 11"/>
          <p:cNvSpPr txBox="1"/>
          <p:nvPr/>
        </p:nvSpPr>
        <p:spPr>
          <a:xfrm>
            <a:off x="6771785" y="2173987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8"/>
              </a:lnSpc>
              <a:buNone/>
            </a:pPr>
            <a:r>
              <a:rPr lang="tr-TR" sz="1400" b="1" kern="0" spc="60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Ayrılış</a:t>
            </a:r>
            <a:endParaRPr lang="tr-TR" sz="1400" b="1" noProof="1"/>
          </a:p>
        </p:txBody>
      </p:sp>
      <p:sp>
        <p:nvSpPr>
          <p:cNvPr id="14" name="Text 12"/>
          <p:cNvSpPr txBox="1"/>
          <p:nvPr/>
        </p:nvSpPr>
        <p:spPr>
          <a:xfrm>
            <a:off x="219456" y="2426219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</a:t>
            </a:r>
            <a:endParaRPr lang="tr-TR" sz="1400" b="1" noProof="1"/>
          </a:p>
        </p:txBody>
      </p:sp>
      <p:sp>
        <p:nvSpPr>
          <p:cNvPr id="15" name="Shape 13"/>
          <p:cNvSpPr/>
          <p:nvPr/>
        </p:nvSpPr>
        <p:spPr>
          <a:xfrm>
            <a:off x="1773936" y="242087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6" name="Shape 14"/>
          <p:cNvSpPr/>
          <p:nvPr/>
        </p:nvSpPr>
        <p:spPr>
          <a:xfrm>
            <a:off x="2609959" y="242087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7" name="Shape 15"/>
          <p:cNvSpPr/>
          <p:nvPr/>
        </p:nvSpPr>
        <p:spPr>
          <a:xfrm>
            <a:off x="3445982" y="242087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8" name="Shape 16"/>
          <p:cNvSpPr/>
          <p:nvPr/>
        </p:nvSpPr>
        <p:spPr>
          <a:xfrm>
            <a:off x="4282005" y="242087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9" name="Shape 17"/>
          <p:cNvSpPr/>
          <p:nvPr/>
        </p:nvSpPr>
        <p:spPr>
          <a:xfrm>
            <a:off x="5118027" y="242087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0" name="Shape 18"/>
          <p:cNvSpPr/>
          <p:nvPr/>
        </p:nvSpPr>
        <p:spPr>
          <a:xfrm>
            <a:off x="5954050" y="242087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1" name="Shape 19"/>
          <p:cNvSpPr/>
          <p:nvPr/>
        </p:nvSpPr>
        <p:spPr>
          <a:xfrm>
            <a:off x="6790073" y="242087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2" name="Text 20"/>
          <p:cNvSpPr txBox="1"/>
          <p:nvPr/>
        </p:nvSpPr>
        <p:spPr>
          <a:xfrm>
            <a:off x="7754112" y="2420875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silüeti · teşhir kontrastı</a:t>
            </a:r>
            <a:endParaRPr lang="tr-TR" sz="1400" noProof="1"/>
          </a:p>
        </p:txBody>
      </p:sp>
      <p:sp>
        <p:nvSpPr>
          <p:cNvPr id="23" name="Text 21"/>
          <p:cNvSpPr txBox="1"/>
          <p:nvPr/>
        </p:nvSpPr>
        <p:spPr>
          <a:xfrm>
            <a:off x="219456" y="2865131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</a:t>
            </a:r>
            <a:endParaRPr lang="tr-TR" sz="1400" b="1" noProof="1"/>
          </a:p>
        </p:txBody>
      </p:sp>
      <p:sp>
        <p:nvSpPr>
          <p:cNvPr id="24" name="Shape 22"/>
          <p:cNvSpPr/>
          <p:nvPr/>
        </p:nvSpPr>
        <p:spPr>
          <a:xfrm>
            <a:off x="1773936" y="2859787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5" name="Shape 23"/>
          <p:cNvSpPr/>
          <p:nvPr/>
        </p:nvSpPr>
        <p:spPr>
          <a:xfrm>
            <a:off x="2609959" y="2859787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6" name="Shape 24"/>
          <p:cNvSpPr/>
          <p:nvPr/>
        </p:nvSpPr>
        <p:spPr>
          <a:xfrm>
            <a:off x="3445982" y="2859787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7" name="Shape 25"/>
          <p:cNvSpPr/>
          <p:nvPr/>
        </p:nvSpPr>
        <p:spPr>
          <a:xfrm>
            <a:off x="4282005" y="2859787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8" name="Shape 26"/>
          <p:cNvSpPr/>
          <p:nvPr/>
        </p:nvSpPr>
        <p:spPr>
          <a:xfrm>
            <a:off x="5118027" y="2859787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9" name="Shape 27"/>
          <p:cNvSpPr/>
          <p:nvPr/>
        </p:nvSpPr>
        <p:spPr>
          <a:xfrm>
            <a:off x="5954050" y="2859787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0" name="Shape 28"/>
          <p:cNvSpPr/>
          <p:nvPr/>
        </p:nvSpPr>
        <p:spPr>
          <a:xfrm>
            <a:off x="6790073" y="2859787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1" name="Text 29"/>
          <p:cNvSpPr txBox="1"/>
          <p:nvPr/>
        </p:nvSpPr>
        <p:spPr>
          <a:xfrm>
            <a:off x="7754112" y="2859787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eşikte ısı · koridor genişliği</a:t>
            </a:r>
            <a:endParaRPr lang="tr-TR" sz="1400" noProof="1"/>
          </a:p>
        </p:txBody>
      </p:sp>
      <p:sp>
        <p:nvSpPr>
          <p:cNvPr id="32" name="Text 30"/>
          <p:cNvSpPr txBox="1"/>
          <p:nvPr/>
        </p:nvSpPr>
        <p:spPr>
          <a:xfrm>
            <a:off x="219456" y="3304043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Koklama</a:t>
            </a:r>
            <a:endParaRPr lang="tr-TR" sz="1400" b="1" noProof="1"/>
          </a:p>
        </p:txBody>
      </p:sp>
      <p:sp>
        <p:nvSpPr>
          <p:cNvPr id="33" name="Shape 31"/>
          <p:cNvSpPr/>
          <p:nvPr/>
        </p:nvSpPr>
        <p:spPr>
          <a:xfrm>
            <a:off x="1773936" y="3298699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4" name="Shape 32"/>
          <p:cNvSpPr/>
          <p:nvPr/>
        </p:nvSpPr>
        <p:spPr>
          <a:xfrm>
            <a:off x="2609959" y="3298699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5" name="Shape 33"/>
          <p:cNvSpPr/>
          <p:nvPr/>
        </p:nvSpPr>
        <p:spPr>
          <a:xfrm>
            <a:off x="3445982" y="3298699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6" name="Shape 34"/>
          <p:cNvSpPr/>
          <p:nvPr/>
        </p:nvSpPr>
        <p:spPr>
          <a:xfrm>
            <a:off x="4282005" y="3298699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7" name="Shape 35"/>
          <p:cNvSpPr/>
          <p:nvPr/>
        </p:nvSpPr>
        <p:spPr>
          <a:xfrm>
            <a:off x="5118027" y="3298699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8" name="Shape 36"/>
          <p:cNvSpPr/>
          <p:nvPr/>
        </p:nvSpPr>
        <p:spPr>
          <a:xfrm>
            <a:off x="5954050" y="3298699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9" name="Shape 37"/>
          <p:cNvSpPr/>
          <p:nvPr/>
        </p:nvSpPr>
        <p:spPr>
          <a:xfrm>
            <a:off x="6790073" y="3298699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0" name="Text 38"/>
          <p:cNvSpPr txBox="1"/>
          <p:nvPr/>
        </p:nvSpPr>
        <p:spPr>
          <a:xfrm>
            <a:off x="7754112" y="3298699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izlenim · ürünün kendi kokusu</a:t>
            </a:r>
            <a:endParaRPr lang="tr-TR" sz="1400" noProof="1"/>
          </a:p>
        </p:txBody>
      </p:sp>
      <p:sp>
        <p:nvSpPr>
          <p:cNvPr id="41" name="Text 39"/>
          <p:cNvSpPr txBox="1"/>
          <p:nvPr/>
        </p:nvSpPr>
        <p:spPr>
          <a:xfrm>
            <a:off x="219456" y="3742955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İşitme</a:t>
            </a:r>
            <a:endParaRPr lang="tr-TR" sz="1400" b="1" noProof="1"/>
          </a:p>
        </p:txBody>
      </p:sp>
      <p:sp>
        <p:nvSpPr>
          <p:cNvPr id="42" name="Shape 40"/>
          <p:cNvSpPr/>
          <p:nvPr/>
        </p:nvSpPr>
        <p:spPr>
          <a:xfrm>
            <a:off x="1773936" y="3737611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3" name="Shape 41"/>
          <p:cNvSpPr/>
          <p:nvPr/>
        </p:nvSpPr>
        <p:spPr>
          <a:xfrm>
            <a:off x="2609959" y="3737611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4" name="Shape 42"/>
          <p:cNvSpPr/>
          <p:nvPr/>
        </p:nvSpPr>
        <p:spPr>
          <a:xfrm>
            <a:off x="3445982" y="3737611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5" name="Shape 43"/>
          <p:cNvSpPr/>
          <p:nvPr/>
        </p:nvSpPr>
        <p:spPr>
          <a:xfrm>
            <a:off x="4282005" y="3737611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6" name="Shape 44"/>
          <p:cNvSpPr/>
          <p:nvPr/>
        </p:nvSpPr>
        <p:spPr>
          <a:xfrm>
            <a:off x="5118027" y="3737611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7" name="Shape 45"/>
          <p:cNvSpPr/>
          <p:nvPr/>
        </p:nvSpPr>
        <p:spPr>
          <a:xfrm>
            <a:off x="5954050" y="3737611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8" name="Shape 46"/>
          <p:cNvSpPr/>
          <p:nvPr/>
        </p:nvSpPr>
        <p:spPr>
          <a:xfrm>
            <a:off x="6790073" y="3737611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49" name="Text 47"/>
          <p:cNvSpPr txBox="1"/>
          <p:nvPr/>
        </p:nvSpPr>
        <p:spPr>
          <a:xfrm>
            <a:off x="7754112" y="3737611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akustik · kabinde sessizlik</a:t>
            </a:r>
            <a:endParaRPr lang="tr-TR" sz="1400" noProof="1"/>
          </a:p>
        </p:txBody>
      </p:sp>
      <p:sp>
        <p:nvSpPr>
          <p:cNvPr id="50" name="Text 48"/>
          <p:cNvSpPr txBox="1"/>
          <p:nvPr/>
        </p:nvSpPr>
        <p:spPr>
          <a:xfrm>
            <a:off x="219456" y="4181867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</a:t>
            </a:r>
            <a:endParaRPr lang="tr-TR" sz="1400" b="1" noProof="1"/>
          </a:p>
        </p:txBody>
      </p:sp>
      <p:sp>
        <p:nvSpPr>
          <p:cNvPr id="51" name="Shape 49"/>
          <p:cNvSpPr/>
          <p:nvPr/>
        </p:nvSpPr>
        <p:spPr>
          <a:xfrm>
            <a:off x="1773936" y="4176523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2" name="Shape 50"/>
          <p:cNvSpPr/>
          <p:nvPr/>
        </p:nvSpPr>
        <p:spPr>
          <a:xfrm>
            <a:off x="2609959" y="4176523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3" name="Shape 51"/>
          <p:cNvSpPr/>
          <p:nvPr/>
        </p:nvSpPr>
        <p:spPr>
          <a:xfrm>
            <a:off x="3445982" y="4176523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4" name="Shape 52"/>
          <p:cNvSpPr/>
          <p:nvPr/>
        </p:nvSpPr>
        <p:spPr>
          <a:xfrm>
            <a:off x="4282005" y="4176523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5" name="Shape 53"/>
          <p:cNvSpPr/>
          <p:nvPr/>
        </p:nvSpPr>
        <p:spPr>
          <a:xfrm>
            <a:off x="5118027" y="4176523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6" name="Shape 54"/>
          <p:cNvSpPr/>
          <p:nvPr/>
        </p:nvSpPr>
        <p:spPr>
          <a:xfrm>
            <a:off x="5954050" y="4176523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7" name="Shape 55"/>
          <p:cNvSpPr/>
          <p:nvPr/>
        </p:nvSpPr>
        <p:spPr>
          <a:xfrm>
            <a:off x="6790073" y="4176523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58" name="Text 56"/>
          <p:cNvSpPr txBox="1"/>
          <p:nvPr/>
        </p:nvSpPr>
        <p:spPr>
          <a:xfrm>
            <a:off x="7754112" y="4176523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raf · deneme · tezgâh</a:t>
            </a:r>
            <a:endParaRPr lang="tr-TR" sz="1400" noProof="1"/>
          </a:p>
        </p:txBody>
      </p:sp>
      <p:sp>
        <p:nvSpPr>
          <p:cNvPr id="59" name="Text 57"/>
          <p:cNvSpPr txBox="1"/>
          <p:nvPr/>
        </p:nvSpPr>
        <p:spPr>
          <a:xfrm>
            <a:off x="219456" y="4620779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36"/>
              </a:lnSpc>
              <a:buNone/>
            </a:pPr>
            <a:r>
              <a:rPr lang="tr-TR" sz="14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tr-TR" sz="1400" b="1" noProof="1"/>
          </a:p>
        </p:txBody>
      </p:sp>
      <p:sp>
        <p:nvSpPr>
          <p:cNvPr id="60" name="Shape 58"/>
          <p:cNvSpPr/>
          <p:nvPr/>
        </p:nvSpPr>
        <p:spPr>
          <a:xfrm>
            <a:off x="1773936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1" name="Shape 59"/>
          <p:cNvSpPr/>
          <p:nvPr/>
        </p:nvSpPr>
        <p:spPr>
          <a:xfrm>
            <a:off x="2609959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2" name="Shape 60"/>
          <p:cNvSpPr/>
          <p:nvPr/>
        </p:nvSpPr>
        <p:spPr>
          <a:xfrm>
            <a:off x="3445982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3" name="Shape 61"/>
          <p:cNvSpPr/>
          <p:nvPr/>
        </p:nvSpPr>
        <p:spPr>
          <a:xfrm>
            <a:off x="4282005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4" name="Shape 62"/>
          <p:cNvSpPr/>
          <p:nvPr/>
        </p:nvSpPr>
        <p:spPr>
          <a:xfrm>
            <a:off x="5118027" y="461543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5" name="Shape 63"/>
          <p:cNvSpPr/>
          <p:nvPr/>
        </p:nvSpPr>
        <p:spPr>
          <a:xfrm>
            <a:off x="5954050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6" name="Shape 64"/>
          <p:cNvSpPr/>
          <p:nvPr/>
        </p:nvSpPr>
        <p:spPr>
          <a:xfrm>
            <a:off x="6790073" y="4615435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67" name="Text 65"/>
          <p:cNvSpPr txBox="1"/>
          <p:nvPr/>
        </p:nvSpPr>
        <p:spPr>
          <a:xfrm>
            <a:off x="7754112" y="4615435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0"/>
              </a:lnSpc>
              <a:buNone/>
            </a:pPr>
            <a:r>
              <a:rPr lang="tr-TR" sz="1400" noProof="1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tadım noktası · ikram</a:t>
            </a:r>
            <a:endParaRPr lang="tr-TR" sz="1400" noProof="1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88F1BDD7-B4DA-4BD6-D344-7518F975D197}"/>
              </a:ext>
            </a:extLst>
          </p:cNvPr>
          <p:cNvSpPr txBox="1"/>
          <p:nvPr/>
        </p:nvSpPr>
        <p:spPr>
          <a:xfrm>
            <a:off x="713232" y="1121969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bir seramik markası. -- El yapımı seramik ev ve sofra ürünleri. </a:t>
            </a:r>
            <a:endParaRPr lang="tr-TR" sz="1400" noProof="1"/>
          </a:p>
        </p:txBody>
      </p:sp>
      <p:sp>
        <p:nvSpPr>
          <p:cNvPr id="71" name="Text 2">
            <a:extLst>
              <a:ext uri="{FF2B5EF4-FFF2-40B4-BE49-F238E27FC236}">
                <a16:creationId xmlns:a16="http://schemas.microsoft.com/office/drawing/2014/main" id="{FDA0E039-A9A3-A090-FFA7-A9091A68F4C2}"/>
              </a:ext>
            </a:extLst>
          </p:cNvPr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78"/>
              </a:lnSpc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 (Vaka analizi)</a:t>
            </a:r>
            <a:endParaRPr lang="tr-TR" sz="2700" noProof="1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10F8DE44-59D3-392B-BAC6-E3166E54264B}"/>
              </a:ext>
            </a:extLst>
          </p:cNvPr>
          <p:cNvSpPr txBox="1"/>
          <p:nvPr/>
        </p:nvSpPr>
        <p:spPr>
          <a:xfrm>
            <a:off x="562896" y="750666"/>
            <a:ext cx="533354" cy="25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9"/>
              </a:lnSpc>
              <a:buNone/>
            </a:pPr>
            <a:r>
              <a:rPr lang="tr-TR" sz="1900" b="1" noProof="1">
                <a:solidFill>
                  <a:srgbClr val="222220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tr-TR" sz="1900" noProof="1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ECD9F8E9-C728-F0C4-070B-89B22540CEF5}"/>
              </a:ext>
            </a:extLst>
          </p:cNvPr>
          <p:cNvSpPr/>
          <p:nvPr/>
        </p:nvSpPr>
        <p:spPr>
          <a:xfrm>
            <a:off x="1773936" y="3298204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77" name="Shape 25">
            <a:extLst>
              <a:ext uri="{FF2B5EF4-FFF2-40B4-BE49-F238E27FC236}">
                <a16:creationId xmlns:a16="http://schemas.microsoft.com/office/drawing/2014/main" id="{E8383CE5-BAAC-DB81-1798-0D35FD85504D}"/>
              </a:ext>
            </a:extLst>
          </p:cNvPr>
          <p:cNvSpPr/>
          <p:nvPr/>
        </p:nvSpPr>
        <p:spPr>
          <a:xfrm>
            <a:off x="5109907" y="2859787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4627A808-07CD-D239-3D9C-69E1D141EF6C}"/>
              </a:ext>
            </a:extLst>
          </p:cNvPr>
          <p:cNvSpPr/>
          <p:nvPr/>
        </p:nvSpPr>
        <p:spPr>
          <a:xfrm>
            <a:off x="5950167" y="2859787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79" name="Shape 43">
            <a:extLst>
              <a:ext uri="{FF2B5EF4-FFF2-40B4-BE49-F238E27FC236}">
                <a16:creationId xmlns:a16="http://schemas.microsoft.com/office/drawing/2014/main" id="{22EB49B7-442D-AF38-8EDB-86A08F298272}"/>
              </a:ext>
            </a:extLst>
          </p:cNvPr>
          <p:cNvSpPr/>
          <p:nvPr/>
        </p:nvSpPr>
        <p:spPr>
          <a:xfrm>
            <a:off x="3441745" y="3737611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80" name="Shape 62">
            <a:extLst>
              <a:ext uri="{FF2B5EF4-FFF2-40B4-BE49-F238E27FC236}">
                <a16:creationId xmlns:a16="http://schemas.microsoft.com/office/drawing/2014/main" id="{92CAB9CC-3C50-A945-0375-58CE29274063}"/>
              </a:ext>
            </a:extLst>
          </p:cNvPr>
          <p:cNvSpPr/>
          <p:nvPr/>
        </p:nvSpPr>
        <p:spPr>
          <a:xfrm>
            <a:off x="3449864" y="4615435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8A5769DF-C47B-7815-E41C-46370335D92F}"/>
              </a:ext>
            </a:extLst>
          </p:cNvPr>
          <p:cNvSpPr/>
          <p:nvPr/>
        </p:nvSpPr>
        <p:spPr>
          <a:xfrm>
            <a:off x="1773936" y="3730690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2"/>
              </a:lnSpc>
              <a:buNone/>
            </a:pPr>
            <a:r>
              <a:rPr lang="tr-TR" sz="900" b="1" noProof="1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tr-TR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8"/>
              </a:lnSpc>
              <a:buNone/>
            </a:pPr>
            <a:r>
              <a:rPr lang="tr-TR" sz="270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araştırması</a:t>
            </a:r>
            <a:endParaRPr lang="tr-TR" sz="2700" noProof="1"/>
          </a:p>
        </p:txBody>
      </p:sp>
      <p:sp>
        <p:nvSpPr>
          <p:cNvPr id="14" name="Text 12"/>
          <p:cNvSpPr txBox="1"/>
          <p:nvPr/>
        </p:nvSpPr>
        <p:spPr>
          <a:xfrm>
            <a:off x="3699320" y="1145178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mücevher · saat · tekil tasarım objesi</a:t>
            </a:r>
            <a:endParaRPr lang="tr-TR" sz="1400" noProof="1"/>
          </a:p>
        </p:txBody>
      </p:sp>
      <p:sp>
        <p:nvSpPr>
          <p:cNvPr id="20" name="Text 18"/>
          <p:cNvSpPr txBox="1"/>
          <p:nvPr/>
        </p:nvSpPr>
        <p:spPr>
          <a:xfrm>
            <a:off x="3699320" y="1432640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giyim · ayakkabı · gözlük · şapka · takı</a:t>
            </a:r>
            <a:endParaRPr lang="tr-TR" sz="1400" noProof="1"/>
          </a:p>
        </p:txBody>
      </p:sp>
      <p:sp>
        <p:nvSpPr>
          <p:cNvPr id="26" name="Text 24"/>
          <p:cNvSpPr txBox="1"/>
          <p:nvPr/>
        </p:nvSpPr>
        <p:spPr>
          <a:xfrm>
            <a:off x="3699320" y="1742389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parfüm · sabun</a:t>
            </a:r>
            <a:endParaRPr lang="tr-TR" sz="1400" noProof="1"/>
          </a:p>
        </p:txBody>
      </p:sp>
      <p:sp>
        <p:nvSpPr>
          <p:cNvPr id="32" name="Text 30"/>
          <p:cNvSpPr txBox="1"/>
          <p:nvPr/>
        </p:nvSpPr>
        <p:spPr>
          <a:xfrm>
            <a:off x="3699320" y="2052139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· plak · kırtasiye ve kâğıt </a:t>
            </a:r>
            <a:endParaRPr lang="tr-TR" sz="1400" noProof="1"/>
          </a:p>
        </p:txBody>
      </p:sp>
      <p:sp>
        <p:nvSpPr>
          <p:cNvPr id="38" name="Text 36"/>
          <p:cNvSpPr txBox="1"/>
          <p:nvPr/>
        </p:nvSpPr>
        <p:spPr>
          <a:xfrm>
            <a:off x="3699320" y="2376176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mobilya · halı ve kilim · ev tekstili · bisiklet</a:t>
            </a:r>
            <a:endParaRPr lang="tr-TR" sz="1400" noProof="1"/>
          </a:p>
        </p:txBody>
      </p:sp>
      <p:sp>
        <p:nvSpPr>
          <p:cNvPr id="44" name="Text 42"/>
          <p:cNvSpPr txBox="1"/>
          <p:nvPr/>
        </p:nvSpPr>
        <p:spPr>
          <a:xfrm>
            <a:off x="3699320" y="2671638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40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seramik · deri ve ayakkabı atölyesi</a:t>
            </a:r>
            <a:endParaRPr lang="tr-TR" sz="1400" noProof="1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DE79381D-962B-3F5E-4300-24E70EF07439}"/>
              </a:ext>
            </a:extLst>
          </p:cNvPr>
          <p:cNvSpPr txBox="1"/>
          <p:nvPr/>
        </p:nvSpPr>
        <p:spPr>
          <a:xfrm>
            <a:off x="3699320" y="65836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tr-TR" sz="16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Ürün Grubu</a:t>
            </a:r>
            <a:endParaRPr lang="tr-TR" sz="1600" b="1" noProof="1"/>
          </a:p>
        </p:txBody>
      </p:sp>
      <p:cxnSp>
        <p:nvCxnSpPr>
          <p:cNvPr id="55" name="Düz Bağlayıcı 54">
            <a:extLst>
              <a:ext uri="{FF2B5EF4-FFF2-40B4-BE49-F238E27FC236}">
                <a16:creationId xmlns:a16="http://schemas.microsoft.com/office/drawing/2014/main" id="{5F292F9E-E271-FF15-3094-A80F84BDA0AE}"/>
              </a:ext>
            </a:extLst>
          </p:cNvPr>
          <p:cNvCxnSpPr>
            <a:cxnSpLocks/>
          </p:cNvCxnSpPr>
          <p:nvPr/>
        </p:nvCxnSpPr>
        <p:spPr>
          <a:xfrm flipV="1">
            <a:off x="3487472" y="770233"/>
            <a:ext cx="0" cy="22227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713232" y="1683639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8" name="Text 6"/>
          <p:cNvSpPr txBox="1"/>
          <p:nvPr/>
        </p:nvSpPr>
        <p:spPr>
          <a:xfrm>
            <a:off x="914400" y="1610487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Sunar Bükülmez, P., Girginkaya Akdağ, S. ve Ekin, G. (2025)</a:t>
            </a:r>
            <a:endParaRPr lang="tr-TR" sz="1050" noProof="1"/>
          </a:p>
        </p:txBody>
      </p:sp>
      <p:sp>
        <p:nvSpPr>
          <p:cNvPr id="9" name="Text 7"/>
          <p:cNvSpPr txBox="1"/>
          <p:nvPr/>
        </p:nvSpPr>
        <p:spPr>
          <a:xfrm>
            <a:off x="914400" y="1848231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Design Competencies and Customer Journey Mapping Tools. The International Journal of Design Education, 19(2), 25–50. </a:t>
            </a:r>
            <a:endParaRPr lang="tr-TR" sz="950" noProof="1"/>
          </a:p>
        </p:txBody>
      </p:sp>
      <p:sp>
        <p:nvSpPr>
          <p:cNvPr id="10" name="Shape 8"/>
          <p:cNvSpPr/>
          <p:nvPr/>
        </p:nvSpPr>
        <p:spPr>
          <a:xfrm>
            <a:off x="713232" y="2342007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1" name="Text 9"/>
          <p:cNvSpPr txBox="1"/>
          <p:nvPr/>
        </p:nvSpPr>
        <p:spPr>
          <a:xfrm>
            <a:off x="914400" y="2268855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Wheeler, A. (2017)</a:t>
            </a:r>
            <a:endParaRPr lang="tr-TR" sz="1050" noProof="1"/>
          </a:p>
        </p:txBody>
      </p:sp>
      <p:sp>
        <p:nvSpPr>
          <p:cNvPr id="12" name="Text 10"/>
          <p:cNvSpPr txBox="1"/>
          <p:nvPr/>
        </p:nvSpPr>
        <p:spPr>
          <a:xfrm>
            <a:off x="914400" y="2506599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Brand Identity. Wiley. </a:t>
            </a:r>
            <a:endParaRPr lang="tr-TR" sz="950" noProof="1"/>
          </a:p>
        </p:txBody>
      </p:sp>
      <p:sp>
        <p:nvSpPr>
          <p:cNvPr id="13" name="Shape 11"/>
          <p:cNvSpPr/>
          <p:nvPr/>
        </p:nvSpPr>
        <p:spPr>
          <a:xfrm>
            <a:off x="713232" y="3000375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4" name="Text 12"/>
          <p:cNvSpPr txBox="1"/>
          <p:nvPr/>
        </p:nvSpPr>
        <p:spPr>
          <a:xfrm>
            <a:off x="914400" y="2927223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Kotler, P. (1973)</a:t>
            </a:r>
            <a:endParaRPr lang="tr-TR" sz="1050" noProof="1"/>
          </a:p>
        </p:txBody>
      </p:sp>
      <p:sp>
        <p:nvSpPr>
          <p:cNvPr id="15" name="Text 13"/>
          <p:cNvSpPr txBox="1"/>
          <p:nvPr/>
        </p:nvSpPr>
        <p:spPr>
          <a:xfrm>
            <a:off x="914400" y="3164967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Atmospherics as a Marketing Tool. Journal of Retailing, 49(4), 48–64. </a:t>
            </a:r>
            <a:endParaRPr lang="tr-TR" sz="950" noProof="1"/>
          </a:p>
        </p:txBody>
      </p:sp>
      <p:sp>
        <p:nvSpPr>
          <p:cNvPr id="16" name="Shape 14"/>
          <p:cNvSpPr/>
          <p:nvPr/>
        </p:nvSpPr>
        <p:spPr>
          <a:xfrm>
            <a:off x="713232" y="3658743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17" name="Text 15"/>
          <p:cNvSpPr txBox="1"/>
          <p:nvPr/>
        </p:nvSpPr>
        <p:spPr>
          <a:xfrm>
            <a:off x="914400" y="3585591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Bitner, M. J. (1992)</a:t>
            </a:r>
            <a:endParaRPr lang="tr-TR" sz="1050" noProof="1"/>
          </a:p>
        </p:txBody>
      </p:sp>
      <p:sp>
        <p:nvSpPr>
          <p:cNvPr id="18" name="Text 16"/>
          <p:cNvSpPr txBox="1"/>
          <p:nvPr/>
        </p:nvSpPr>
        <p:spPr>
          <a:xfrm>
            <a:off x="914400" y="3823335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Servicescapes: The Impact of Physical Surroundings. Journal of Marketing, 56(2), 57–71. </a:t>
            </a:r>
            <a:endParaRPr lang="tr-TR" sz="950" noProof="1"/>
          </a:p>
        </p:txBody>
      </p:sp>
      <p:sp>
        <p:nvSpPr>
          <p:cNvPr id="19" name="Shape 17"/>
          <p:cNvSpPr/>
          <p:nvPr/>
        </p:nvSpPr>
        <p:spPr>
          <a:xfrm>
            <a:off x="713232" y="4317111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0" name="Text 18"/>
          <p:cNvSpPr txBox="1"/>
          <p:nvPr/>
        </p:nvSpPr>
        <p:spPr>
          <a:xfrm>
            <a:off x="914400" y="4243959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Mehrabian, A. ve Russell, J. A. (1974)</a:t>
            </a:r>
            <a:endParaRPr lang="tr-TR" sz="1050" noProof="1"/>
          </a:p>
        </p:txBody>
      </p:sp>
      <p:sp>
        <p:nvSpPr>
          <p:cNvPr id="21" name="Text 19"/>
          <p:cNvSpPr txBox="1"/>
          <p:nvPr/>
        </p:nvSpPr>
        <p:spPr>
          <a:xfrm>
            <a:off x="914400" y="4481703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 to Environmental Psychology. MIT Press. </a:t>
            </a:r>
            <a:endParaRPr lang="tr-TR" sz="950" noProof="1"/>
          </a:p>
        </p:txBody>
      </p:sp>
      <p:sp>
        <p:nvSpPr>
          <p:cNvPr id="22" name="Shape 20"/>
          <p:cNvSpPr/>
          <p:nvPr/>
        </p:nvSpPr>
        <p:spPr>
          <a:xfrm>
            <a:off x="713232" y="4975479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3" name="Text 21"/>
          <p:cNvSpPr txBox="1"/>
          <p:nvPr/>
        </p:nvSpPr>
        <p:spPr>
          <a:xfrm>
            <a:off x="914400" y="4902327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Spence, C. vd. (2014)</a:t>
            </a:r>
            <a:endParaRPr lang="tr-TR" sz="1050" noProof="1"/>
          </a:p>
        </p:txBody>
      </p:sp>
      <p:sp>
        <p:nvSpPr>
          <p:cNvPr id="24" name="Text 22"/>
          <p:cNvSpPr txBox="1"/>
          <p:nvPr/>
        </p:nvSpPr>
        <p:spPr>
          <a:xfrm>
            <a:off x="914400" y="5140071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Atmospherics: A Multisensory Perspective. Psychology &amp; Marketing, 31(7), 472–488. </a:t>
            </a:r>
            <a:endParaRPr lang="tr-TR" sz="950" noProof="1"/>
          </a:p>
        </p:txBody>
      </p:sp>
      <p:sp>
        <p:nvSpPr>
          <p:cNvPr id="25" name="Shape 23"/>
          <p:cNvSpPr/>
          <p:nvPr/>
        </p:nvSpPr>
        <p:spPr>
          <a:xfrm>
            <a:off x="6190488" y="1683639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6" name="Text 24"/>
          <p:cNvSpPr txBox="1"/>
          <p:nvPr/>
        </p:nvSpPr>
        <p:spPr>
          <a:xfrm>
            <a:off x="6391656" y="1610487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Pallasmaa, J. (2005)</a:t>
            </a:r>
            <a:endParaRPr lang="tr-TR" sz="1050" noProof="1"/>
          </a:p>
        </p:txBody>
      </p:sp>
      <p:sp>
        <p:nvSpPr>
          <p:cNvPr id="27" name="Text 25"/>
          <p:cNvSpPr txBox="1"/>
          <p:nvPr/>
        </p:nvSpPr>
        <p:spPr>
          <a:xfrm>
            <a:off x="6391656" y="1848231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 of the Skin. Wiley. [Tenin Gözleri, YEM Yayın] </a:t>
            </a:r>
            <a:endParaRPr lang="tr-TR" sz="950" noProof="1"/>
          </a:p>
        </p:txBody>
      </p:sp>
      <p:sp>
        <p:nvSpPr>
          <p:cNvPr id="28" name="Shape 26"/>
          <p:cNvSpPr/>
          <p:nvPr/>
        </p:nvSpPr>
        <p:spPr>
          <a:xfrm>
            <a:off x="6190488" y="2342007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29" name="Text 27"/>
          <p:cNvSpPr txBox="1"/>
          <p:nvPr/>
        </p:nvSpPr>
        <p:spPr>
          <a:xfrm>
            <a:off x="6391656" y="2268855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Lemon, K. N. ve Verhoef, P. C. (2016)</a:t>
            </a:r>
            <a:endParaRPr lang="tr-TR" sz="1050" noProof="1"/>
          </a:p>
        </p:txBody>
      </p:sp>
      <p:sp>
        <p:nvSpPr>
          <p:cNvPr id="30" name="Text 28"/>
          <p:cNvSpPr txBox="1"/>
          <p:nvPr/>
        </p:nvSpPr>
        <p:spPr>
          <a:xfrm>
            <a:off x="6391656" y="2506599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Experience Throughout the Customer Journey. Journal of Marketing, 80(6), 69–96.</a:t>
            </a:r>
            <a:endParaRPr lang="tr-TR" sz="950" noProof="1"/>
          </a:p>
        </p:txBody>
      </p:sp>
      <p:sp>
        <p:nvSpPr>
          <p:cNvPr id="31" name="Shape 29"/>
          <p:cNvSpPr/>
          <p:nvPr/>
        </p:nvSpPr>
        <p:spPr>
          <a:xfrm>
            <a:off x="6190488" y="3000375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2" name="Text 30"/>
          <p:cNvSpPr txBox="1"/>
          <p:nvPr/>
        </p:nvSpPr>
        <p:spPr>
          <a:xfrm>
            <a:off x="6391656" y="2927223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Stein, A. ve Ramaseshan, B. (2016)</a:t>
            </a:r>
            <a:endParaRPr lang="tr-TR" sz="1050" noProof="1"/>
          </a:p>
        </p:txBody>
      </p:sp>
      <p:sp>
        <p:nvSpPr>
          <p:cNvPr id="33" name="Text 31"/>
          <p:cNvSpPr txBox="1"/>
          <p:nvPr/>
        </p:nvSpPr>
        <p:spPr>
          <a:xfrm>
            <a:off x="6391656" y="3164967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the Identification of Customer Experience Touch Point Elements. JRCS, 30, 8–19.</a:t>
            </a:r>
            <a:endParaRPr lang="tr-TR" sz="950" noProof="1"/>
          </a:p>
        </p:txBody>
      </p:sp>
      <p:sp>
        <p:nvSpPr>
          <p:cNvPr id="34" name="Shape 32"/>
          <p:cNvSpPr/>
          <p:nvPr/>
        </p:nvSpPr>
        <p:spPr>
          <a:xfrm>
            <a:off x="6190488" y="3658743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5" name="Text 33"/>
          <p:cNvSpPr txBox="1"/>
          <p:nvPr/>
        </p:nvSpPr>
        <p:spPr>
          <a:xfrm>
            <a:off x="6391656" y="3585591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Underhill, P. (2008)</a:t>
            </a:r>
            <a:endParaRPr lang="tr-TR" sz="1050" noProof="1"/>
          </a:p>
        </p:txBody>
      </p:sp>
      <p:sp>
        <p:nvSpPr>
          <p:cNvPr id="36" name="Text 34"/>
          <p:cNvSpPr txBox="1"/>
          <p:nvPr/>
        </p:nvSpPr>
        <p:spPr>
          <a:xfrm>
            <a:off x="6391656" y="3823335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Buy: The Science of Shopping. Simon &amp; Schuster. </a:t>
            </a:r>
            <a:endParaRPr lang="tr-TR" sz="950" noProof="1"/>
          </a:p>
        </p:txBody>
      </p:sp>
      <p:sp>
        <p:nvSpPr>
          <p:cNvPr id="37" name="Shape 35"/>
          <p:cNvSpPr/>
          <p:nvPr/>
        </p:nvSpPr>
        <p:spPr>
          <a:xfrm>
            <a:off x="6190488" y="4317111"/>
            <a:ext cx="82296" cy="82296"/>
          </a:xfrm>
          <a:prstGeom prst="rect">
            <a:avLst/>
          </a:prstGeom>
          <a:solidFill>
            <a:srgbClr val="A85C43"/>
          </a:solidFill>
          <a:ln/>
        </p:spPr>
        <p:txBody>
          <a:bodyPr/>
          <a:lstStyle/>
          <a:p>
            <a:endParaRPr lang="tr-TR" noProof="1"/>
          </a:p>
        </p:txBody>
      </p:sp>
      <p:sp>
        <p:nvSpPr>
          <p:cNvPr id="38" name="Text 36"/>
          <p:cNvSpPr txBox="1"/>
          <p:nvPr/>
        </p:nvSpPr>
        <p:spPr>
          <a:xfrm>
            <a:off x="6391656" y="4243959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tr-TR" sz="1050" b="1" noProof="1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Mesher, L. (2010)</a:t>
            </a:r>
            <a:endParaRPr lang="tr-TR" sz="1050" noProof="1"/>
          </a:p>
        </p:txBody>
      </p:sp>
      <p:sp>
        <p:nvSpPr>
          <p:cNvPr id="39" name="Text 37"/>
          <p:cNvSpPr txBox="1"/>
          <p:nvPr/>
        </p:nvSpPr>
        <p:spPr>
          <a:xfrm>
            <a:off x="6391656" y="4481703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tr-TR" sz="950" noProof="1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Interior Design: Retail Design. AVA Publishing.</a:t>
            </a:r>
            <a:endParaRPr lang="tr-TR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7335</TotalTime>
  <Words>1331</Words>
  <Application>Microsoft Macintosh PowerPoint</Application>
  <PresentationFormat>Geniş ekran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 Anahtarını Okumak ve Müşteri Deneyimini Haritalamak</dc:title>
  <dc:subject>PptxGenJS Presentation</dc:subject>
  <dc:creator>PptxGenJS</dc:creator>
  <cp:lastModifiedBy>75683</cp:lastModifiedBy>
  <cp:revision>16</cp:revision>
  <dcterms:created xsi:type="dcterms:W3CDTF">2026-09-18T04:55:06Z</dcterms:created>
  <dcterms:modified xsi:type="dcterms:W3CDTF">2026-09-28T12:24:33Z</dcterms:modified>
</cp:coreProperties>
</file>